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5041"/>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85041"/>
          </a:solidFill>
          <a:ln/>
        </p:spPr>
      </p:sp>
      <p:sp>
        <p:nvSpPr>
          <p:cNvPr id="3" name="Shape 1"/>
          <p:cNvSpPr/>
          <p:nvPr/>
        </p:nvSpPr>
        <p:spPr>
          <a:xfrm>
            <a:off x="0" y="4114800"/>
            <a:ext cx="9144000" cy="1028700"/>
          </a:xfrm>
          <a:prstGeom prst="rect">
            <a:avLst/>
          </a:prstGeom>
          <a:solidFill>
            <a:srgbClr val="1D9E75"/>
          </a:solidFill>
          <a:ln/>
        </p:spPr>
      </p:sp>
      <p:sp>
        <p:nvSpPr>
          <p:cNvPr id="4" name="Text 2"/>
          <p:cNvSpPr/>
          <p:nvPr/>
        </p:nvSpPr>
        <p:spPr>
          <a:xfrm>
            <a:off x="548640" y="914400"/>
            <a:ext cx="8046720" cy="1005840"/>
          </a:xfrm>
          <a:prstGeom prst="rect">
            <a:avLst/>
          </a:prstGeom>
          <a:noFill/>
          <a:ln/>
        </p:spPr>
        <p:txBody>
          <a:bodyPr wrap="square" rtlCol="0" anchor="ctr"/>
          <a:lstStyle/>
          <a:p>
            <a:pPr algn="l" indent="0" marL="0">
              <a:buNone/>
            </a:pPr>
            <a:r>
              <a:rPr lang="en-US" sz="5200" b="1" dirty="0">
                <a:solidFill>
                  <a:srgbClr val="FFFFFF"/>
                </a:solidFill>
                <a:latin typeface="Trebuchet MS" pitchFamily="34" charset="0"/>
                <a:ea typeface="Trebuchet MS" pitchFamily="34" charset="-122"/>
                <a:cs typeface="Trebuchet MS" pitchFamily="34" charset="-120"/>
              </a:rPr>
              <a:t>NearBase</a:t>
            </a:r>
            <a:endParaRPr lang="en-US" sz="5200" dirty="0"/>
          </a:p>
        </p:txBody>
      </p:sp>
      <p:sp>
        <p:nvSpPr>
          <p:cNvPr id="5" name="Text 3"/>
          <p:cNvSpPr/>
          <p:nvPr/>
        </p:nvSpPr>
        <p:spPr>
          <a:xfrm>
            <a:off x="548640" y="1828800"/>
            <a:ext cx="8046720" cy="640080"/>
          </a:xfrm>
          <a:prstGeom prst="rect">
            <a:avLst/>
          </a:prstGeom>
          <a:noFill/>
          <a:ln/>
        </p:spPr>
        <p:txBody>
          <a:bodyPr wrap="square" rtlCol="0" anchor="ctr"/>
          <a:lstStyle/>
          <a:p>
            <a:pPr algn="l" indent="0" marL="0">
              <a:buNone/>
            </a:pPr>
            <a:r>
              <a:rPr lang="en-US" sz="2800" dirty="0">
                <a:solidFill>
                  <a:srgbClr val="1D9E75"/>
                </a:solidFill>
                <a:latin typeface="Trebuchet MS" pitchFamily="34" charset="0"/>
                <a:ea typeface="Trebuchet MS" pitchFamily="34" charset="-122"/>
                <a:cs typeface="Trebuchet MS" pitchFamily="34" charset="-120"/>
              </a:rPr>
              <a:t>Preschool Finder</a:t>
            </a:r>
            <a:endParaRPr lang="en-US" sz="2800" dirty="0"/>
          </a:p>
        </p:txBody>
      </p:sp>
      <p:sp>
        <p:nvSpPr>
          <p:cNvPr id="6" name="Text 4"/>
          <p:cNvSpPr/>
          <p:nvPr/>
        </p:nvSpPr>
        <p:spPr>
          <a:xfrm>
            <a:off x="548640" y="2606040"/>
            <a:ext cx="8046720" cy="548640"/>
          </a:xfrm>
          <a:prstGeom prst="rect">
            <a:avLst/>
          </a:prstGeom>
          <a:noFill/>
          <a:ln/>
        </p:spPr>
        <p:txBody>
          <a:bodyPr wrap="square" rtlCol="0" anchor="ctr"/>
          <a:lstStyle/>
          <a:p>
            <a:pPr algn="l" indent="0" marL="0">
              <a:buNone/>
            </a:pPr>
            <a:r>
              <a:rPr lang="en-US" sz="1600" i="1" dirty="0">
                <a:solidFill>
                  <a:srgbClr val="9FE1CB"/>
                </a:solidFill>
                <a:latin typeface="Calibri" pitchFamily="34" charset="0"/>
                <a:ea typeface="Calibri" pitchFamily="34" charset="-122"/>
                <a:cs typeface="Calibri" pitchFamily="34" charset="-120"/>
              </a:rPr>
              <a:t>The military family preschool map — now putting your school on it.</a:t>
            </a:r>
            <a:endParaRPr lang="en-US" sz="1600" dirty="0"/>
          </a:p>
        </p:txBody>
      </p:sp>
      <p:sp>
        <p:nvSpPr>
          <p:cNvPr id="7" name="Text 5"/>
          <p:cNvSpPr/>
          <p:nvPr/>
        </p:nvSpPr>
        <p:spPr>
          <a:xfrm>
            <a:off x="548640" y="4206240"/>
            <a:ext cx="8046720" cy="457200"/>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partnership opportunity for preschools and child care providers in the NCR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85041"/>
          </a:solidFill>
          <a:ln/>
        </p:spPr>
      </p:sp>
      <p:sp>
        <p:nvSpPr>
          <p:cNvPr id="3" name="Text 1"/>
          <p:cNvSpPr/>
          <p:nvPr/>
        </p:nvSpPr>
        <p:spPr>
          <a:xfrm>
            <a:off x="457200" y="137160"/>
            <a:ext cx="8229600" cy="731520"/>
          </a:xfrm>
          <a:prstGeom prst="rect">
            <a:avLst/>
          </a:prstGeom>
          <a:noFill/>
          <a:ln/>
        </p:spPr>
        <p:txBody>
          <a:bodyPr wrap="square" rtlCol="0" anchor="ctr"/>
          <a:lstStyle/>
          <a:p>
            <a:pPr algn="l" indent="0" marL="0">
              <a:buNone/>
            </a:pPr>
            <a:r>
              <a:rPr lang="en-US" sz="2400" b="1" dirty="0">
                <a:solidFill>
                  <a:srgbClr val="FFFFFF"/>
                </a:solidFill>
                <a:latin typeface="Trebuchet MS" pitchFamily="34" charset="0"/>
                <a:ea typeface="Trebuchet MS" pitchFamily="34" charset="-122"/>
                <a:cs typeface="Trebuchet MS" pitchFamily="34" charset="-120"/>
              </a:rPr>
              <a:t>The problem every military family faces</a:t>
            </a:r>
            <a:endParaRPr lang="en-US" sz="2400" dirty="0"/>
          </a:p>
        </p:txBody>
      </p:sp>
      <p:sp>
        <p:nvSpPr>
          <p:cNvPr id="4" name="Shape 2"/>
          <p:cNvSpPr/>
          <p:nvPr/>
        </p:nvSpPr>
        <p:spPr>
          <a:xfrm>
            <a:off x="457200" y="1234440"/>
            <a:ext cx="8229600" cy="1005840"/>
          </a:xfrm>
          <a:prstGeom prst="rect">
            <a:avLst/>
          </a:prstGeom>
          <a:solidFill>
            <a:srgbClr val="E1F5EE"/>
          </a:solidFill>
          <a:ln w="12700">
            <a:solidFill>
              <a:srgbClr val="1D9E75"/>
            </a:solidFill>
            <a:prstDash val="solid"/>
          </a:ln>
        </p:spPr>
      </p:sp>
      <p:sp>
        <p:nvSpPr>
          <p:cNvPr id="5" name="Text 3"/>
          <p:cNvSpPr/>
          <p:nvPr/>
        </p:nvSpPr>
        <p:spPr>
          <a:xfrm>
            <a:off x="640080" y="1307592"/>
            <a:ext cx="7863840" cy="365760"/>
          </a:xfrm>
          <a:prstGeom prst="rect">
            <a:avLst/>
          </a:prstGeom>
          <a:noFill/>
          <a:ln/>
        </p:spPr>
        <p:txBody>
          <a:bodyPr wrap="square" rtlCol="0" anchor="ctr"/>
          <a:lstStyle/>
          <a:p>
            <a:pPr algn="l" indent="0" marL="0">
              <a:buNone/>
            </a:pPr>
            <a:r>
              <a:rPr lang="en-US" sz="1400" b="1" dirty="0">
                <a:solidFill>
                  <a:srgbClr val="085041"/>
                </a:solidFill>
                <a:latin typeface="Calibri" pitchFamily="34" charset="0"/>
                <a:ea typeface="Calibri" pitchFamily="34" charset="-122"/>
                <a:cs typeface="Calibri" pitchFamily="34" charset="-120"/>
              </a:rPr>
              <a:t>📦  Orders arrive. The scramble begins.</a:t>
            </a:r>
            <a:endParaRPr lang="en-US" sz="1400" dirty="0"/>
          </a:p>
        </p:txBody>
      </p:sp>
      <p:sp>
        <p:nvSpPr>
          <p:cNvPr id="6" name="Text 4"/>
          <p:cNvSpPr/>
          <p:nvPr/>
        </p:nvSpPr>
        <p:spPr>
          <a:xfrm>
            <a:off x="640080" y="1691640"/>
            <a:ext cx="7863840" cy="502920"/>
          </a:xfrm>
          <a:prstGeom prst="rect">
            <a:avLst/>
          </a:prstGeom>
          <a:noFill/>
          <a:ln/>
        </p:spPr>
        <p:txBody>
          <a:bodyPr wrap="square" rtlCol="0" anchor="ctr"/>
          <a:lstStyle/>
          <a:p>
            <a:pPr algn="l" indent="0" marL="0">
              <a:buNone/>
            </a:pPr>
            <a:r>
              <a:rPr lang="en-US" sz="1300" dirty="0">
                <a:solidFill>
                  <a:srgbClr val="444441"/>
                </a:solidFill>
                <a:latin typeface="Calibri" pitchFamily="34" charset="0"/>
                <a:ea typeface="Calibri" pitchFamily="34" charset="-122"/>
                <a:cs typeface="Calibri" pitchFamily="34" charset="-120"/>
              </a:rPr>
              <a:t>A military family gets PCS orders. They have weeks — sometimes days — to find a home, a school, and childcare in a city they've never lived in.</a:t>
            </a:r>
            <a:endParaRPr lang="en-US" sz="1300" dirty="0"/>
          </a:p>
        </p:txBody>
      </p:sp>
      <p:sp>
        <p:nvSpPr>
          <p:cNvPr id="7" name="Shape 5"/>
          <p:cNvSpPr/>
          <p:nvPr/>
        </p:nvSpPr>
        <p:spPr>
          <a:xfrm>
            <a:off x="457200" y="2377440"/>
            <a:ext cx="8229600" cy="1005840"/>
          </a:xfrm>
          <a:prstGeom prst="rect">
            <a:avLst/>
          </a:prstGeom>
          <a:solidFill>
            <a:srgbClr val="E1F5EE"/>
          </a:solidFill>
          <a:ln w="12700">
            <a:solidFill>
              <a:srgbClr val="1D9E75"/>
            </a:solidFill>
            <a:prstDash val="solid"/>
          </a:ln>
        </p:spPr>
      </p:sp>
      <p:sp>
        <p:nvSpPr>
          <p:cNvPr id="8" name="Text 6"/>
          <p:cNvSpPr/>
          <p:nvPr/>
        </p:nvSpPr>
        <p:spPr>
          <a:xfrm>
            <a:off x="640080" y="2450592"/>
            <a:ext cx="7863840" cy="365760"/>
          </a:xfrm>
          <a:prstGeom prst="rect">
            <a:avLst/>
          </a:prstGeom>
          <a:noFill/>
          <a:ln/>
        </p:spPr>
        <p:txBody>
          <a:bodyPr wrap="square" rtlCol="0" anchor="ctr"/>
          <a:lstStyle/>
          <a:p>
            <a:pPr algn="l" indent="0" marL="0">
              <a:buNone/>
            </a:pPr>
            <a:r>
              <a:rPr lang="en-US" sz="1400" b="1" dirty="0">
                <a:solidFill>
                  <a:srgbClr val="085041"/>
                </a:solidFill>
                <a:latin typeface="Calibri" pitchFamily="34" charset="0"/>
                <a:ea typeface="Calibri" pitchFamily="34" charset="-122"/>
                <a:cs typeface="Calibri" pitchFamily="34" charset="-120"/>
              </a:rPr>
              <a:t>🔍  40–60 hours of searching.</a:t>
            </a:r>
            <a:endParaRPr lang="en-US" sz="1400" dirty="0"/>
          </a:p>
        </p:txBody>
      </p:sp>
      <p:sp>
        <p:nvSpPr>
          <p:cNvPr id="9" name="Text 7"/>
          <p:cNvSpPr/>
          <p:nvPr/>
        </p:nvSpPr>
        <p:spPr>
          <a:xfrm>
            <a:off x="640080" y="2834640"/>
            <a:ext cx="7863840" cy="502920"/>
          </a:xfrm>
          <a:prstGeom prst="rect">
            <a:avLst/>
          </a:prstGeom>
          <a:noFill/>
          <a:ln/>
        </p:spPr>
        <p:txBody>
          <a:bodyPr wrap="square" rtlCol="0" anchor="ctr"/>
          <a:lstStyle/>
          <a:p>
            <a:pPr algn="l" indent="0" marL="0">
              <a:buNone/>
            </a:pPr>
            <a:r>
              <a:rPr lang="en-US" sz="1300" dirty="0">
                <a:solidFill>
                  <a:srgbClr val="444441"/>
                </a:solidFill>
                <a:latin typeface="Calibri" pitchFamily="34" charset="0"/>
                <a:ea typeface="Calibri" pitchFamily="34" charset="-122"/>
                <a:cs typeface="Calibri" pitchFamily="34" charset="-120"/>
              </a:rPr>
              <a:t>The average military family spends 40–60 hours researching preschools before a PCS move — Google searches, Facebook groups, dead links, outdated directories.</a:t>
            </a:r>
            <a:endParaRPr lang="en-US" sz="1300" dirty="0"/>
          </a:p>
        </p:txBody>
      </p:sp>
      <p:sp>
        <p:nvSpPr>
          <p:cNvPr id="10" name="Shape 8"/>
          <p:cNvSpPr/>
          <p:nvPr/>
        </p:nvSpPr>
        <p:spPr>
          <a:xfrm>
            <a:off x="457200" y="3520440"/>
            <a:ext cx="8229600" cy="1005840"/>
          </a:xfrm>
          <a:prstGeom prst="rect">
            <a:avLst/>
          </a:prstGeom>
          <a:solidFill>
            <a:srgbClr val="E1F5EE"/>
          </a:solidFill>
          <a:ln w="12700">
            <a:solidFill>
              <a:srgbClr val="1D9E75"/>
            </a:solidFill>
            <a:prstDash val="solid"/>
          </a:ln>
        </p:spPr>
      </p:sp>
      <p:sp>
        <p:nvSpPr>
          <p:cNvPr id="11" name="Text 9"/>
          <p:cNvSpPr/>
          <p:nvPr/>
        </p:nvSpPr>
        <p:spPr>
          <a:xfrm>
            <a:off x="640080" y="3593592"/>
            <a:ext cx="7863840" cy="365760"/>
          </a:xfrm>
          <a:prstGeom prst="rect">
            <a:avLst/>
          </a:prstGeom>
          <a:noFill/>
          <a:ln/>
        </p:spPr>
        <p:txBody>
          <a:bodyPr wrap="square" rtlCol="0" anchor="ctr"/>
          <a:lstStyle/>
          <a:p>
            <a:pPr algn="l" indent="0" marL="0">
              <a:buNone/>
            </a:pPr>
            <a:r>
              <a:rPr lang="en-US" sz="1400" b="1" dirty="0">
                <a:solidFill>
                  <a:srgbClr val="085041"/>
                </a:solidFill>
                <a:latin typeface="Calibri" pitchFamily="34" charset="0"/>
                <a:ea typeface="Calibri" pitchFamily="34" charset="-122"/>
                <a:cs typeface="Calibri" pitchFamily="34" charset="-120"/>
              </a:rPr>
              <a:t>👻  Great schools are invisible.</a:t>
            </a:r>
            <a:endParaRPr lang="en-US" sz="1400" dirty="0"/>
          </a:p>
        </p:txBody>
      </p:sp>
      <p:sp>
        <p:nvSpPr>
          <p:cNvPr id="12" name="Text 10"/>
          <p:cNvSpPr/>
          <p:nvPr/>
        </p:nvSpPr>
        <p:spPr>
          <a:xfrm>
            <a:off x="640080" y="3977640"/>
            <a:ext cx="7863840" cy="502920"/>
          </a:xfrm>
          <a:prstGeom prst="rect">
            <a:avLst/>
          </a:prstGeom>
          <a:noFill/>
          <a:ln/>
        </p:spPr>
        <p:txBody>
          <a:bodyPr wrap="square" rtlCol="0" anchor="ctr"/>
          <a:lstStyle/>
          <a:p>
            <a:pPr algn="l" indent="0" marL="0">
              <a:buNone/>
            </a:pPr>
            <a:r>
              <a:rPr lang="en-US" sz="1300" dirty="0">
                <a:solidFill>
                  <a:srgbClr val="444441"/>
                </a:solidFill>
                <a:latin typeface="Calibri" pitchFamily="34" charset="0"/>
                <a:ea typeface="Calibri" pitchFamily="34" charset="-122"/>
                <a:cs typeface="Calibri" pitchFamily="34" charset="-120"/>
              </a:rPr>
              <a:t>Extraordinary programs with no web presence simply don't exist to searching families. If they can't find you, they can't choose you.</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85041"/>
          </a:solidFill>
          <a:ln/>
        </p:spPr>
      </p:sp>
      <p:sp>
        <p:nvSpPr>
          <p:cNvPr id="3" name="Text 1"/>
          <p:cNvSpPr/>
          <p:nvPr/>
        </p:nvSpPr>
        <p:spPr>
          <a:xfrm>
            <a:off x="457200" y="137160"/>
            <a:ext cx="8229600" cy="731520"/>
          </a:xfrm>
          <a:prstGeom prst="rect">
            <a:avLst/>
          </a:prstGeom>
          <a:noFill/>
          <a:ln/>
        </p:spPr>
        <p:txBody>
          <a:bodyPr wrap="square" rtlCol="0" anchor="ctr"/>
          <a:lstStyle/>
          <a:p>
            <a:pPr algn="l" indent="0" marL="0">
              <a:buNone/>
            </a:pPr>
            <a:r>
              <a:rPr lang="en-US" sz="2400" b="1" dirty="0">
                <a:solidFill>
                  <a:srgbClr val="FFFFFF"/>
                </a:solidFill>
                <a:latin typeface="Trebuchet MS" pitchFamily="34" charset="0"/>
                <a:ea typeface="Trebuchet MS" pitchFamily="34" charset="-122"/>
                <a:cs typeface="Trebuchet MS" pitchFamily="34" charset="-120"/>
              </a:rPr>
              <a:t>The opportunity: millions of families. One search season.</a:t>
            </a:r>
            <a:endParaRPr lang="en-US" sz="2400" dirty="0"/>
          </a:p>
        </p:txBody>
      </p:sp>
      <p:sp>
        <p:nvSpPr>
          <p:cNvPr id="4" name="Shape 2"/>
          <p:cNvSpPr/>
          <p:nvPr/>
        </p:nvSpPr>
        <p:spPr>
          <a:xfrm>
            <a:off x="457200" y="1188720"/>
            <a:ext cx="1920240" cy="1828800"/>
          </a:xfrm>
          <a:prstGeom prst="rect">
            <a:avLst/>
          </a:prstGeom>
          <a:solidFill>
            <a:srgbClr val="E1F5EE"/>
          </a:solidFill>
          <a:ln/>
        </p:spPr>
      </p:sp>
      <p:sp>
        <p:nvSpPr>
          <p:cNvPr id="5" name="Text 3"/>
          <p:cNvSpPr/>
          <p:nvPr/>
        </p:nvSpPr>
        <p:spPr>
          <a:xfrm>
            <a:off x="457200" y="1325880"/>
            <a:ext cx="1920240" cy="822960"/>
          </a:xfrm>
          <a:prstGeom prst="rect">
            <a:avLst/>
          </a:prstGeom>
          <a:noFill/>
          <a:ln/>
        </p:spPr>
        <p:txBody>
          <a:bodyPr wrap="square" rtlCol="0" anchor="ctr"/>
          <a:lstStyle/>
          <a:p>
            <a:pPr algn="ctr" indent="0" marL="0">
              <a:buNone/>
            </a:pPr>
            <a:r>
              <a:rPr lang="en-US" sz="2600" b="1" dirty="0">
                <a:solidFill>
                  <a:srgbClr val="085041"/>
                </a:solidFill>
                <a:latin typeface="Trebuchet MS" pitchFamily="34" charset="0"/>
                <a:ea typeface="Trebuchet MS" pitchFamily="34" charset="-122"/>
                <a:cs typeface="Trebuchet MS" pitchFamily="34" charset="-120"/>
              </a:rPr>
              <a:t>300,000+</a:t>
            </a:r>
            <a:endParaRPr lang="en-US" sz="2600" dirty="0"/>
          </a:p>
        </p:txBody>
      </p:sp>
      <p:sp>
        <p:nvSpPr>
          <p:cNvPr id="6" name="Text 4"/>
          <p:cNvSpPr/>
          <p:nvPr/>
        </p:nvSpPr>
        <p:spPr>
          <a:xfrm>
            <a:off x="457200" y="2148840"/>
            <a:ext cx="1920240" cy="731520"/>
          </a:xfrm>
          <a:prstGeom prst="rect">
            <a:avLst/>
          </a:prstGeom>
          <a:noFill/>
          <a:ln/>
        </p:spPr>
        <p:txBody>
          <a:bodyPr wrap="square" rtlCol="0" anchor="ctr"/>
          <a:lstStyle/>
          <a:p>
            <a:pPr algn="ctr" indent="0" marL="0">
              <a:buNone/>
            </a:pPr>
            <a:r>
              <a:rPr lang="en-US" sz="1200" dirty="0">
                <a:solidFill>
                  <a:srgbClr val="085041"/>
                </a:solidFill>
                <a:latin typeface="Calibri" pitchFamily="34" charset="0"/>
                <a:ea typeface="Calibri" pitchFamily="34" charset="-122"/>
                <a:cs typeface="Calibri" pitchFamily="34" charset="-120"/>
              </a:rPr>
              <a:t>military families</a:t>
            </a:r>
            <a:endParaRPr lang="en-US" sz="1200" dirty="0"/>
          </a:p>
          <a:p>
            <a:pPr algn="ctr" indent="0" marL="0">
              <a:buNone/>
            </a:pPr>
            <a:r>
              <a:rPr lang="en-US" sz="1200" dirty="0">
                <a:solidFill>
                  <a:srgbClr val="085041"/>
                </a:solidFill>
                <a:latin typeface="Calibri" pitchFamily="34" charset="0"/>
                <a:ea typeface="Calibri" pitchFamily="34" charset="-122"/>
                <a:cs typeface="Calibri" pitchFamily="34" charset="-120"/>
              </a:rPr>
              <a:t>PCS every year</a:t>
            </a:r>
            <a:endParaRPr lang="en-US" sz="1200" dirty="0"/>
          </a:p>
        </p:txBody>
      </p:sp>
      <p:sp>
        <p:nvSpPr>
          <p:cNvPr id="7" name="Shape 5"/>
          <p:cNvSpPr/>
          <p:nvPr/>
        </p:nvSpPr>
        <p:spPr>
          <a:xfrm>
            <a:off x="2560320" y="1188720"/>
            <a:ext cx="1920240" cy="1828800"/>
          </a:xfrm>
          <a:prstGeom prst="rect">
            <a:avLst/>
          </a:prstGeom>
          <a:solidFill>
            <a:srgbClr val="E1F5EE"/>
          </a:solidFill>
          <a:ln/>
        </p:spPr>
      </p:sp>
      <p:sp>
        <p:nvSpPr>
          <p:cNvPr id="8" name="Text 6"/>
          <p:cNvSpPr/>
          <p:nvPr/>
        </p:nvSpPr>
        <p:spPr>
          <a:xfrm>
            <a:off x="2560320" y="1325880"/>
            <a:ext cx="1920240" cy="822960"/>
          </a:xfrm>
          <a:prstGeom prst="rect">
            <a:avLst/>
          </a:prstGeom>
          <a:noFill/>
          <a:ln/>
        </p:spPr>
        <p:txBody>
          <a:bodyPr wrap="square" rtlCol="0" anchor="ctr"/>
          <a:lstStyle/>
          <a:p>
            <a:pPr algn="ctr" indent="0" marL="0">
              <a:buNone/>
            </a:pPr>
            <a:r>
              <a:rPr lang="en-US" sz="2600" b="1" dirty="0">
                <a:solidFill>
                  <a:srgbClr val="085041"/>
                </a:solidFill>
                <a:latin typeface="Trebuchet MS" pitchFamily="34" charset="0"/>
                <a:ea typeface="Trebuchet MS" pitchFamily="34" charset="-122"/>
                <a:cs typeface="Trebuchet MS" pitchFamily="34" charset="-120"/>
              </a:rPr>
              <a:t>$3–5B</a:t>
            </a:r>
            <a:endParaRPr lang="en-US" sz="2600" dirty="0"/>
          </a:p>
        </p:txBody>
      </p:sp>
      <p:sp>
        <p:nvSpPr>
          <p:cNvPr id="9" name="Text 7"/>
          <p:cNvSpPr/>
          <p:nvPr/>
        </p:nvSpPr>
        <p:spPr>
          <a:xfrm>
            <a:off x="2560320" y="2148840"/>
            <a:ext cx="1920240" cy="731520"/>
          </a:xfrm>
          <a:prstGeom prst="rect">
            <a:avLst/>
          </a:prstGeom>
          <a:noFill/>
          <a:ln/>
        </p:spPr>
        <p:txBody>
          <a:bodyPr wrap="square" rtlCol="0" anchor="ctr"/>
          <a:lstStyle/>
          <a:p>
            <a:pPr algn="ctr" indent="0" marL="0">
              <a:buNone/>
            </a:pPr>
            <a:r>
              <a:rPr lang="en-US" sz="1200" dirty="0">
                <a:solidFill>
                  <a:srgbClr val="085041"/>
                </a:solidFill>
                <a:latin typeface="Calibri" pitchFamily="34" charset="0"/>
                <a:ea typeface="Calibri" pitchFamily="34" charset="-122"/>
                <a:cs typeface="Calibri" pitchFamily="34" charset="-120"/>
              </a:rPr>
              <a:t>DoD annual spend</a:t>
            </a:r>
            <a:endParaRPr lang="en-US" sz="1200" dirty="0"/>
          </a:p>
          <a:p>
            <a:pPr algn="ctr" indent="0" marL="0">
              <a:buNone/>
            </a:pPr>
            <a:r>
              <a:rPr lang="en-US" sz="1200" dirty="0">
                <a:solidFill>
                  <a:srgbClr val="085041"/>
                </a:solidFill>
                <a:latin typeface="Calibri" pitchFamily="34" charset="0"/>
                <a:ea typeface="Calibri" pitchFamily="34" charset="-122"/>
                <a:cs typeface="Calibri" pitchFamily="34" charset="-120"/>
              </a:rPr>
              <a:t>on moves</a:t>
            </a:r>
            <a:endParaRPr lang="en-US" sz="1200" dirty="0"/>
          </a:p>
        </p:txBody>
      </p:sp>
      <p:sp>
        <p:nvSpPr>
          <p:cNvPr id="10" name="Shape 8"/>
          <p:cNvSpPr/>
          <p:nvPr/>
        </p:nvSpPr>
        <p:spPr>
          <a:xfrm>
            <a:off x="4663440" y="1188720"/>
            <a:ext cx="1920240" cy="1828800"/>
          </a:xfrm>
          <a:prstGeom prst="rect">
            <a:avLst/>
          </a:prstGeom>
          <a:solidFill>
            <a:srgbClr val="E1F5EE"/>
          </a:solidFill>
          <a:ln/>
        </p:spPr>
      </p:sp>
      <p:sp>
        <p:nvSpPr>
          <p:cNvPr id="11" name="Text 9"/>
          <p:cNvSpPr/>
          <p:nvPr/>
        </p:nvSpPr>
        <p:spPr>
          <a:xfrm>
            <a:off x="4663440" y="1325880"/>
            <a:ext cx="1920240" cy="822960"/>
          </a:xfrm>
          <a:prstGeom prst="rect">
            <a:avLst/>
          </a:prstGeom>
          <a:noFill/>
          <a:ln/>
        </p:spPr>
        <p:txBody>
          <a:bodyPr wrap="square" rtlCol="0" anchor="ctr"/>
          <a:lstStyle/>
          <a:p>
            <a:pPr algn="ctr" indent="0" marL="0">
              <a:buNone/>
            </a:pPr>
            <a:r>
              <a:rPr lang="en-US" sz="2600" b="1" dirty="0">
                <a:solidFill>
                  <a:srgbClr val="085041"/>
                </a:solidFill>
                <a:latin typeface="Trebuchet MS" pitchFamily="34" charset="0"/>
                <a:ea typeface="Trebuchet MS" pitchFamily="34" charset="-122"/>
                <a:cs typeface="Trebuchet MS" pitchFamily="34" charset="-120"/>
              </a:rPr>
              <a:t>40–60 hrs</a:t>
            </a:r>
            <a:endParaRPr lang="en-US" sz="2600" dirty="0"/>
          </a:p>
        </p:txBody>
      </p:sp>
      <p:sp>
        <p:nvSpPr>
          <p:cNvPr id="12" name="Text 10"/>
          <p:cNvSpPr/>
          <p:nvPr/>
        </p:nvSpPr>
        <p:spPr>
          <a:xfrm>
            <a:off x="4663440" y="2148840"/>
            <a:ext cx="1920240" cy="731520"/>
          </a:xfrm>
          <a:prstGeom prst="rect">
            <a:avLst/>
          </a:prstGeom>
          <a:noFill/>
          <a:ln/>
        </p:spPr>
        <p:txBody>
          <a:bodyPr wrap="square" rtlCol="0" anchor="ctr"/>
          <a:lstStyle/>
          <a:p>
            <a:pPr algn="ctr" indent="0" marL="0">
              <a:buNone/>
            </a:pPr>
            <a:r>
              <a:rPr lang="en-US" sz="1200" dirty="0">
                <a:solidFill>
                  <a:srgbClr val="085041"/>
                </a:solidFill>
                <a:latin typeface="Calibri" pitchFamily="34" charset="0"/>
                <a:ea typeface="Calibri" pitchFamily="34" charset="-122"/>
                <a:cs typeface="Calibri" pitchFamily="34" charset="-120"/>
              </a:rPr>
              <a:t>spent searching</a:t>
            </a:r>
            <a:endParaRPr lang="en-US" sz="1200" dirty="0"/>
          </a:p>
          <a:p>
            <a:pPr algn="ctr" indent="0" marL="0">
              <a:buNone/>
            </a:pPr>
            <a:r>
              <a:rPr lang="en-US" sz="1200" dirty="0">
                <a:solidFill>
                  <a:srgbClr val="085041"/>
                </a:solidFill>
                <a:latin typeface="Calibri" pitchFamily="34" charset="0"/>
                <a:ea typeface="Calibri" pitchFamily="34" charset="-122"/>
                <a:cs typeface="Calibri" pitchFamily="34" charset="-120"/>
              </a:rPr>
              <a:t>per family</a:t>
            </a:r>
            <a:endParaRPr lang="en-US" sz="1200" dirty="0"/>
          </a:p>
        </p:txBody>
      </p:sp>
      <p:sp>
        <p:nvSpPr>
          <p:cNvPr id="13" name="Shape 11"/>
          <p:cNvSpPr/>
          <p:nvPr/>
        </p:nvSpPr>
        <p:spPr>
          <a:xfrm>
            <a:off x="6766560" y="1188720"/>
            <a:ext cx="1920240" cy="1828800"/>
          </a:xfrm>
          <a:prstGeom prst="rect">
            <a:avLst/>
          </a:prstGeom>
          <a:solidFill>
            <a:srgbClr val="E1F5EE"/>
          </a:solidFill>
          <a:ln/>
        </p:spPr>
      </p:sp>
      <p:sp>
        <p:nvSpPr>
          <p:cNvPr id="14" name="Text 12"/>
          <p:cNvSpPr/>
          <p:nvPr/>
        </p:nvSpPr>
        <p:spPr>
          <a:xfrm>
            <a:off x="6766560" y="1325880"/>
            <a:ext cx="1920240" cy="822960"/>
          </a:xfrm>
          <a:prstGeom prst="rect">
            <a:avLst/>
          </a:prstGeom>
          <a:noFill/>
          <a:ln/>
        </p:spPr>
        <p:txBody>
          <a:bodyPr wrap="square" rtlCol="0" anchor="ctr"/>
          <a:lstStyle/>
          <a:p>
            <a:pPr algn="ctr" indent="0" marL="0">
              <a:buNone/>
            </a:pPr>
            <a:r>
              <a:rPr lang="en-US" sz="2600" b="1" dirty="0">
                <a:solidFill>
                  <a:srgbClr val="085041"/>
                </a:solidFill>
                <a:latin typeface="Trebuchet MS" pitchFamily="34" charset="0"/>
                <a:ea typeface="Trebuchet MS" pitchFamily="34" charset="-122"/>
                <a:cs typeface="Trebuchet MS" pitchFamily="34" charset="-120"/>
              </a:rPr>
              <a:t>20 min</a:t>
            </a:r>
            <a:endParaRPr lang="en-US" sz="2600" dirty="0"/>
          </a:p>
        </p:txBody>
      </p:sp>
      <p:sp>
        <p:nvSpPr>
          <p:cNvPr id="15" name="Text 13"/>
          <p:cNvSpPr/>
          <p:nvPr/>
        </p:nvSpPr>
        <p:spPr>
          <a:xfrm>
            <a:off x="6766560" y="2148840"/>
            <a:ext cx="1920240" cy="731520"/>
          </a:xfrm>
          <a:prstGeom prst="rect">
            <a:avLst/>
          </a:prstGeom>
          <a:noFill/>
          <a:ln/>
        </p:spPr>
        <p:txBody>
          <a:bodyPr wrap="square" rtlCol="0" anchor="ctr"/>
          <a:lstStyle/>
          <a:p>
            <a:pPr algn="ctr" indent="0" marL="0">
              <a:buNone/>
            </a:pPr>
            <a:r>
              <a:rPr lang="en-US" sz="1200" dirty="0">
                <a:solidFill>
                  <a:srgbClr val="085041"/>
                </a:solidFill>
                <a:latin typeface="Calibri" pitchFamily="34" charset="0"/>
                <a:ea typeface="Calibri" pitchFamily="34" charset="-122"/>
                <a:cs typeface="Calibri" pitchFamily="34" charset="-120"/>
              </a:rPr>
              <a:t>NearBase cuts</a:t>
            </a:r>
            <a:endParaRPr lang="en-US" sz="1200" dirty="0"/>
          </a:p>
          <a:p>
            <a:pPr algn="ctr" indent="0" marL="0">
              <a:buNone/>
            </a:pPr>
            <a:r>
              <a:rPr lang="en-US" sz="1200" dirty="0">
                <a:solidFill>
                  <a:srgbClr val="085041"/>
                </a:solidFill>
                <a:latin typeface="Calibri" pitchFamily="34" charset="0"/>
                <a:ea typeface="Calibri" pitchFamily="34" charset="-122"/>
                <a:cs typeface="Calibri" pitchFamily="34" charset="-120"/>
              </a:rPr>
              <a:t>that to</a:t>
            </a:r>
            <a:endParaRPr lang="en-US" sz="1200" dirty="0"/>
          </a:p>
        </p:txBody>
      </p:sp>
      <p:sp>
        <p:nvSpPr>
          <p:cNvPr id="16" name="Shape 14"/>
          <p:cNvSpPr/>
          <p:nvPr/>
        </p:nvSpPr>
        <p:spPr>
          <a:xfrm>
            <a:off x="457200" y="3246120"/>
            <a:ext cx="8229600" cy="1463040"/>
          </a:xfrm>
          <a:prstGeom prst="rect">
            <a:avLst/>
          </a:prstGeom>
          <a:solidFill>
            <a:srgbClr val="085041"/>
          </a:solidFill>
          <a:ln/>
        </p:spPr>
      </p:sp>
      <p:sp>
        <p:nvSpPr>
          <p:cNvPr id="17" name="Text 15"/>
          <p:cNvSpPr/>
          <p:nvPr/>
        </p:nvSpPr>
        <p:spPr>
          <a:xfrm>
            <a:off x="640080" y="3337560"/>
            <a:ext cx="7863840" cy="411480"/>
          </a:xfrm>
          <a:prstGeom prst="rect">
            <a:avLst/>
          </a:prstGeom>
          <a:noFill/>
          <a:ln/>
        </p:spPr>
        <p:txBody>
          <a:bodyPr wrap="square" rtlCol="0" anchor="ctr"/>
          <a:lstStyle/>
          <a:p>
            <a:pPr algn="l" indent="0" marL="0">
              <a:buNone/>
            </a:pPr>
            <a:r>
              <a:rPr lang="en-US" sz="1600" b="1" dirty="0">
                <a:solidFill>
                  <a:srgbClr val="1D9E75"/>
                </a:solidFill>
                <a:latin typeface="Trebuchet MS" pitchFamily="34" charset="0"/>
                <a:ea typeface="Trebuchet MS" pitchFamily="34" charset="-122"/>
                <a:cs typeface="Trebuchet MS" pitchFamily="34" charset="-120"/>
              </a:rPr>
              <a:t>Peak PCS season: May – August</a:t>
            </a:r>
            <a:endParaRPr lang="en-US" sz="1600" dirty="0"/>
          </a:p>
        </p:txBody>
      </p:sp>
      <p:sp>
        <p:nvSpPr>
          <p:cNvPr id="18" name="Text 16"/>
          <p:cNvSpPr/>
          <p:nvPr/>
        </p:nvSpPr>
        <p:spPr>
          <a:xfrm>
            <a:off x="640080" y="3749040"/>
            <a:ext cx="7863840" cy="777240"/>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Every summer, thousands of military families arrive in the NCR looking for preschools and child care simultaneously. NearBase is the first platform built specifically to connect them with programs like yours — before they even land.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D9E75"/>
          </a:solidFill>
          <a:ln/>
        </p:spPr>
      </p:sp>
      <p:sp>
        <p:nvSpPr>
          <p:cNvPr id="3" name="Text 1"/>
          <p:cNvSpPr/>
          <p:nvPr/>
        </p:nvSpPr>
        <p:spPr>
          <a:xfrm>
            <a:off x="457200" y="137160"/>
            <a:ext cx="8229600" cy="731520"/>
          </a:xfrm>
          <a:prstGeom prst="rect">
            <a:avLst/>
          </a:prstGeom>
          <a:noFill/>
          <a:ln/>
        </p:spPr>
        <p:txBody>
          <a:bodyPr wrap="square" rtlCol="0" anchor="ctr"/>
          <a:lstStyle/>
          <a:p>
            <a:pPr algn="l" indent="0" marL="0">
              <a:buNone/>
            </a:pPr>
            <a:r>
              <a:rPr lang="en-US" sz="2200" b="1" dirty="0">
                <a:solidFill>
                  <a:srgbClr val="FFFFFF"/>
                </a:solidFill>
                <a:latin typeface="Trebuchet MS" pitchFamily="34" charset="0"/>
                <a:ea typeface="Trebuchet MS" pitchFamily="34" charset="-122"/>
                <a:cs typeface="Trebuchet MS" pitchFamily="34" charset="-120"/>
              </a:rPr>
              <a:t>What NearBase does for families — and for your school</a:t>
            </a:r>
            <a:endParaRPr lang="en-US" sz="2200" dirty="0"/>
          </a:p>
        </p:txBody>
      </p:sp>
      <p:sp>
        <p:nvSpPr>
          <p:cNvPr id="4" name="Shape 2"/>
          <p:cNvSpPr/>
          <p:nvPr/>
        </p:nvSpPr>
        <p:spPr>
          <a:xfrm>
            <a:off x="365760" y="1143000"/>
            <a:ext cx="4206240" cy="1600200"/>
          </a:xfrm>
          <a:prstGeom prst="rect">
            <a:avLst/>
          </a:prstGeom>
          <a:solidFill>
            <a:srgbClr val="E1F5EE"/>
          </a:solidFill>
          <a:ln w="12700">
            <a:solidFill>
              <a:srgbClr val="1D9E75"/>
            </a:solidFill>
            <a:prstDash val="solid"/>
          </a:ln>
        </p:spPr>
      </p:sp>
      <p:sp>
        <p:nvSpPr>
          <p:cNvPr id="5" name="Shape 3"/>
          <p:cNvSpPr/>
          <p:nvPr/>
        </p:nvSpPr>
        <p:spPr>
          <a:xfrm>
            <a:off x="365760" y="1143000"/>
            <a:ext cx="73152" cy="1600200"/>
          </a:xfrm>
          <a:prstGeom prst="rect">
            <a:avLst/>
          </a:prstGeom>
          <a:solidFill>
            <a:srgbClr val="1D9E75"/>
          </a:solidFill>
          <a:ln/>
        </p:spPr>
      </p:sp>
      <p:sp>
        <p:nvSpPr>
          <p:cNvPr id="6" name="Text 4"/>
          <p:cNvSpPr/>
          <p:nvPr/>
        </p:nvSpPr>
        <p:spPr>
          <a:xfrm>
            <a:off x="530352" y="1252728"/>
            <a:ext cx="3931920" cy="384048"/>
          </a:xfrm>
          <a:prstGeom prst="rect">
            <a:avLst/>
          </a:prstGeom>
          <a:noFill/>
          <a:ln/>
        </p:spPr>
        <p:txBody>
          <a:bodyPr wrap="square" rtlCol="0" anchor="ctr"/>
          <a:lstStyle/>
          <a:p>
            <a:pPr algn="l" indent="0" marL="0">
              <a:buNone/>
            </a:pPr>
            <a:r>
              <a:rPr lang="en-US" sz="1300" b="1" dirty="0">
                <a:solidFill>
                  <a:srgbClr val="085041"/>
                </a:solidFill>
                <a:latin typeface="Calibri" pitchFamily="34" charset="0"/>
                <a:ea typeface="Calibri" pitchFamily="34" charset="-122"/>
                <a:cs typeface="Calibri" pitchFamily="34" charset="-120"/>
              </a:rPr>
              <a:t>AI-powered match scores</a:t>
            </a:r>
            <a:endParaRPr lang="en-US" sz="1300" dirty="0"/>
          </a:p>
        </p:txBody>
      </p:sp>
      <p:sp>
        <p:nvSpPr>
          <p:cNvPr id="7" name="Text 5"/>
          <p:cNvSpPr/>
          <p:nvPr/>
        </p:nvSpPr>
        <p:spPr>
          <a:xfrm>
            <a:off x="530352" y="1645920"/>
            <a:ext cx="3931920" cy="1005840"/>
          </a:xfrm>
          <a:prstGeom prst="rect">
            <a:avLst/>
          </a:prstGeom>
          <a:noFill/>
          <a:ln/>
        </p:spPr>
        <p:txBody>
          <a:bodyPr wrap="square" rtlCol="0" anchor="ctr"/>
          <a:lstStyle/>
          <a:p>
            <a:pPr algn="l" indent="0" marL="0">
              <a:buNone/>
            </a:pPr>
            <a:r>
              <a:rPr lang="en-US" sz="1200" dirty="0">
                <a:solidFill>
                  <a:srgbClr val="444441"/>
                </a:solidFill>
                <a:latin typeface="Calibri" pitchFamily="34" charset="0"/>
                <a:ea typeface="Calibri" pitchFamily="34" charset="-122"/>
                <a:cs typeface="Calibri" pitchFamily="34" charset="-120"/>
              </a:rPr>
              <a:t>Each family gets a personalized Match Score (0–100) for your school based on their needs — ages, curriculum, hours, military benefits, special needs support.</a:t>
            </a:r>
            <a:endParaRPr lang="en-US" sz="1200" dirty="0"/>
          </a:p>
        </p:txBody>
      </p:sp>
      <p:sp>
        <p:nvSpPr>
          <p:cNvPr id="8" name="Shape 6"/>
          <p:cNvSpPr/>
          <p:nvPr/>
        </p:nvSpPr>
        <p:spPr>
          <a:xfrm>
            <a:off x="4846320" y="1143000"/>
            <a:ext cx="4206240" cy="1600200"/>
          </a:xfrm>
          <a:prstGeom prst="rect">
            <a:avLst/>
          </a:prstGeom>
          <a:solidFill>
            <a:srgbClr val="E1F5EE"/>
          </a:solidFill>
          <a:ln w="12700">
            <a:solidFill>
              <a:srgbClr val="1D9E75"/>
            </a:solidFill>
            <a:prstDash val="solid"/>
          </a:ln>
        </p:spPr>
      </p:sp>
      <p:sp>
        <p:nvSpPr>
          <p:cNvPr id="9" name="Shape 7"/>
          <p:cNvSpPr/>
          <p:nvPr/>
        </p:nvSpPr>
        <p:spPr>
          <a:xfrm>
            <a:off x="4846320" y="1143000"/>
            <a:ext cx="73152" cy="1600200"/>
          </a:xfrm>
          <a:prstGeom prst="rect">
            <a:avLst/>
          </a:prstGeom>
          <a:solidFill>
            <a:srgbClr val="1D9E75"/>
          </a:solidFill>
          <a:ln/>
        </p:spPr>
      </p:sp>
      <p:sp>
        <p:nvSpPr>
          <p:cNvPr id="10" name="Text 8"/>
          <p:cNvSpPr/>
          <p:nvPr/>
        </p:nvSpPr>
        <p:spPr>
          <a:xfrm>
            <a:off x="5010912" y="1252728"/>
            <a:ext cx="3931920" cy="384048"/>
          </a:xfrm>
          <a:prstGeom prst="rect">
            <a:avLst/>
          </a:prstGeom>
          <a:noFill/>
          <a:ln/>
        </p:spPr>
        <p:txBody>
          <a:bodyPr wrap="square" rtlCol="0" anchor="ctr"/>
          <a:lstStyle/>
          <a:p>
            <a:pPr algn="l" indent="0" marL="0">
              <a:buNone/>
            </a:pPr>
            <a:r>
              <a:rPr lang="en-US" sz="1300" b="1" dirty="0">
                <a:solidFill>
                  <a:srgbClr val="085041"/>
                </a:solidFill>
                <a:latin typeface="Calibri" pitchFamily="34" charset="0"/>
                <a:ea typeface="Calibri" pitchFamily="34" charset="-122"/>
                <a:cs typeface="Calibri" pitchFamily="34" charset="-120"/>
              </a:rPr>
              <a:t>Real-time family ecosystem map</a:t>
            </a:r>
            <a:endParaRPr lang="en-US" sz="1300" dirty="0"/>
          </a:p>
        </p:txBody>
      </p:sp>
      <p:sp>
        <p:nvSpPr>
          <p:cNvPr id="11" name="Text 9"/>
          <p:cNvSpPr/>
          <p:nvPr/>
        </p:nvSpPr>
        <p:spPr>
          <a:xfrm>
            <a:off x="5010912" y="1645920"/>
            <a:ext cx="3931920" cy="1005840"/>
          </a:xfrm>
          <a:prstGeom prst="rect">
            <a:avLst/>
          </a:prstGeom>
          <a:noFill/>
          <a:ln/>
        </p:spPr>
        <p:txBody>
          <a:bodyPr wrap="square" rtlCol="0" anchor="ctr"/>
          <a:lstStyle/>
          <a:p>
            <a:pPr algn="l" indent="0" marL="0">
              <a:buNone/>
            </a:pPr>
            <a:r>
              <a:rPr lang="en-US" sz="1200" dirty="0">
                <a:solidFill>
                  <a:srgbClr val="444441"/>
                </a:solidFill>
                <a:latin typeface="Calibri" pitchFamily="34" charset="0"/>
                <a:ea typeface="Calibri" pitchFamily="34" charset="-122"/>
                <a:cs typeface="Calibri" pitchFamily="34" charset="-120"/>
              </a:rPr>
              <a:t>NearBase maps your school alongside housing, rec centers, coffee, and transit — families choose neighborhoods based on where the best schools are.</a:t>
            </a:r>
            <a:endParaRPr lang="en-US" sz="1200" dirty="0"/>
          </a:p>
        </p:txBody>
      </p:sp>
      <p:sp>
        <p:nvSpPr>
          <p:cNvPr id="12" name="Shape 10"/>
          <p:cNvSpPr/>
          <p:nvPr/>
        </p:nvSpPr>
        <p:spPr>
          <a:xfrm>
            <a:off x="365760" y="2880360"/>
            <a:ext cx="4206240" cy="1600200"/>
          </a:xfrm>
          <a:prstGeom prst="rect">
            <a:avLst/>
          </a:prstGeom>
          <a:solidFill>
            <a:srgbClr val="E1F5EE"/>
          </a:solidFill>
          <a:ln w="12700">
            <a:solidFill>
              <a:srgbClr val="1D9E75"/>
            </a:solidFill>
            <a:prstDash val="solid"/>
          </a:ln>
        </p:spPr>
      </p:sp>
      <p:sp>
        <p:nvSpPr>
          <p:cNvPr id="13" name="Shape 11"/>
          <p:cNvSpPr/>
          <p:nvPr/>
        </p:nvSpPr>
        <p:spPr>
          <a:xfrm>
            <a:off x="365760" y="2880360"/>
            <a:ext cx="73152" cy="1600200"/>
          </a:xfrm>
          <a:prstGeom prst="rect">
            <a:avLst/>
          </a:prstGeom>
          <a:solidFill>
            <a:srgbClr val="1D9E75"/>
          </a:solidFill>
          <a:ln/>
        </p:spPr>
      </p:sp>
      <p:sp>
        <p:nvSpPr>
          <p:cNvPr id="14" name="Text 12"/>
          <p:cNvSpPr/>
          <p:nvPr/>
        </p:nvSpPr>
        <p:spPr>
          <a:xfrm>
            <a:off x="530352" y="2990088"/>
            <a:ext cx="3931920" cy="384048"/>
          </a:xfrm>
          <a:prstGeom prst="rect">
            <a:avLst/>
          </a:prstGeom>
          <a:noFill/>
          <a:ln/>
        </p:spPr>
        <p:txBody>
          <a:bodyPr wrap="square" rtlCol="0" anchor="ctr"/>
          <a:lstStyle/>
          <a:p>
            <a:pPr algn="l" indent="0" marL="0">
              <a:buNone/>
            </a:pPr>
            <a:r>
              <a:rPr lang="en-US" sz="1300" b="1" dirty="0">
                <a:solidFill>
                  <a:srgbClr val="085041"/>
                </a:solidFill>
                <a:latin typeface="Calibri" pitchFamily="34" charset="0"/>
                <a:ea typeface="Calibri" pitchFamily="34" charset="-122"/>
                <a:cs typeface="Calibri" pitchFamily="34" charset="-120"/>
              </a:rPr>
              <a:t>Military-specific filters</a:t>
            </a:r>
            <a:endParaRPr lang="en-US" sz="1300" dirty="0"/>
          </a:p>
        </p:txBody>
      </p:sp>
      <p:sp>
        <p:nvSpPr>
          <p:cNvPr id="15" name="Text 13"/>
          <p:cNvSpPr/>
          <p:nvPr/>
        </p:nvSpPr>
        <p:spPr>
          <a:xfrm>
            <a:off x="530352" y="3383280"/>
            <a:ext cx="3931920" cy="1005840"/>
          </a:xfrm>
          <a:prstGeom prst="rect">
            <a:avLst/>
          </a:prstGeom>
          <a:noFill/>
          <a:ln/>
        </p:spPr>
        <p:txBody>
          <a:bodyPr wrap="square" rtlCol="0" anchor="ctr"/>
          <a:lstStyle/>
          <a:p>
            <a:pPr algn="l" indent="0" marL="0">
              <a:buNone/>
            </a:pPr>
            <a:r>
              <a:rPr lang="en-US" sz="1200" dirty="0">
                <a:solidFill>
                  <a:srgbClr val="444441"/>
                </a:solidFill>
                <a:latin typeface="Calibri" pitchFamily="34" charset="0"/>
                <a:ea typeface="Calibri" pitchFamily="34" charset="-122"/>
                <a:cs typeface="Calibri" pitchFamily="34" charset="-120"/>
              </a:rPr>
              <a:t>MCCYN acceptance, deployment flexibility, EFMP awareness, extended hours for early duty days. Filters no other directory has.</a:t>
            </a:r>
            <a:endParaRPr lang="en-US" sz="1200" dirty="0"/>
          </a:p>
        </p:txBody>
      </p:sp>
      <p:sp>
        <p:nvSpPr>
          <p:cNvPr id="16" name="Shape 14"/>
          <p:cNvSpPr/>
          <p:nvPr/>
        </p:nvSpPr>
        <p:spPr>
          <a:xfrm>
            <a:off x="4846320" y="2880360"/>
            <a:ext cx="4206240" cy="1600200"/>
          </a:xfrm>
          <a:prstGeom prst="rect">
            <a:avLst/>
          </a:prstGeom>
          <a:solidFill>
            <a:srgbClr val="E1F5EE"/>
          </a:solidFill>
          <a:ln w="12700">
            <a:solidFill>
              <a:srgbClr val="1D9E75"/>
            </a:solidFill>
            <a:prstDash val="solid"/>
          </a:ln>
        </p:spPr>
      </p:sp>
      <p:sp>
        <p:nvSpPr>
          <p:cNvPr id="17" name="Shape 15"/>
          <p:cNvSpPr/>
          <p:nvPr/>
        </p:nvSpPr>
        <p:spPr>
          <a:xfrm>
            <a:off x="4846320" y="2880360"/>
            <a:ext cx="73152" cy="1600200"/>
          </a:xfrm>
          <a:prstGeom prst="rect">
            <a:avLst/>
          </a:prstGeom>
          <a:solidFill>
            <a:srgbClr val="1D9E75"/>
          </a:solidFill>
          <a:ln/>
        </p:spPr>
      </p:sp>
      <p:sp>
        <p:nvSpPr>
          <p:cNvPr id="18" name="Text 16"/>
          <p:cNvSpPr/>
          <p:nvPr/>
        </p:nvSpPr>
        <p:spPr>
          <a:xfrm>
            <a:off x="5010912" y="2990088"/>
            <a:ext cx="3931920" cy="384048"/>
          </a:xfrm>
          <a:prstGeom prst="rect">
            <a:avLst/>
          </a:prstGeom>
          <a:noFill/>
          <a:ln/>
        </p:spPr>
        <p:txBody>
          <a:bodyPr wrap="square" rtlCol="0" anchor="ctr"/>
          <a:lstStyle/>
          <a:p>
            <a:pPr algn="l" indent="0" marL="0">
              <a:buNone/>
            </a:pPr>
            <a:r>
              <a:rPr lang="en-US" sz="1300" b="1" dirty="0">
                <a:solidFill>
                  <a:srgbClr val="085041"/>
                </a:solidFill>
                <a:latin typeface="Calibri" pitchFamily="34" charset="0"/>
                <a:ea typeface="Calibri" pitchFamily="34" charset="-122"/>
                <a:cs typeface="Calibri" pitchFamily="34" charset="-120"/>
              </a:rPr>
              <a:t>The Paid-Forward Intelligence Loop</a:t>
            </a:r>
            <a:endParaRPr lang="en-US" sz="1300" dirty="0"/>
          </a:p>
        </p:txBody>
      </p:sp>
      <p:sp>
        <p:nvSpPr>
          <p:cNvPr id="19" name="Text 17"/>
          <p:cNvSpPr/>
          <p:nvPr/>
        </p:nvSpPr>
        <p:spPr>
          <a:xfrm>
            <a:off x="5010912" y="3383280"/>
            <a:ext cx="3931920" cy="1005840"/>
          </a:xfrm>
          <a:prstGeom prst="rect">
            <a:avLst/>
          </a:prstGeom>
          <a:noFill/>
          <a:ln/>
        </p:spPr>
        <p:txBody>
          <a:bodyPr wrap="square" rtlCol="0" anchor="ctr"/>
          <a:lstStyle/>
          <a:p>
            <a:pPr algn="l" indent="0" marL="0">
              <a:buNone/>
            </a:pPr>
            <a:r>
              <a:rPr lang="en-US" sz="1200" dirty="0">
                <a:solidFill>
                  <a:srgbClr val="444441"/>
                </a:solidFill>
                <a:latin typeface="Calibri" pitchFamily="34" charset="0"/>
                <a:ea typeface="Calibri" pitchFamily="34" charset="-122"/>
                <a:cs typeface="Calibri" pitchFamily="34" charset="-120"/>
              </a:rPr>
              <a:t>Families report waitlist times, director warmth, and tour experiences back into the platform. Your school's real-time reputation builds automatically.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85041"/>
          </a:solidFill>
          <a:ln/>
        </p:spPr>
      </p:sp>
      <p:sp>
        <p:nvSpPr>
          <p:cNvPr id="3" name="Text 1"/>
          <p:cNvSpPr/>
          <p:nvPr/>
        </p:nvSpPr>
        <p:spPr>
          <a:xfrm>
            <a:off x="457200" y="137160"/>
            <a:ext cx="8229600" cy="731520"/>
          </a:xfrm>
          <a:prstGeom prst="rect">
            <a:avLst/>
          </a:prstGeom>
          <a:noFill/>
          <a:ln/>
        </p:spPr>
        <p:txBody>
          <a:bodyPr wrap="square" rtlCol="0" anchor="ctr"/>
          <a:lstStyle/>
          <a:p>
            <a:pPr algn="l" indent="0" marL="0">
              <a:buNone/>
            </a:pPr>
            <a:r>
              <a:rPr lang="en-US" sz="2400" b="1" dirty="0">
                <a:solidFill>
                  <a:srgbClr val="FFFFFF"/>
                </a:solidFill>
                <a:latin typeface="Trebuchet MS" pitchFamily="34" charset="0"/>
                <a:ea typeface="Trebuchet MS" pitchFamily="34" charset="-122"/>
                <a:cs typeface="Trebuchet MS" pitchFamily="34" charset="-120"/>
              </a:rPr>
              <a:t>What we're offering your school</a:t>
            </a:r>
            <a:endParaRPr lang="en-US" sz="2400" dirty="0"/>
          </a:p>
        </p:txBody>
      </p:sp>
      <p:sp>
        <p:nvSpPr>
          <p:cNvPr id="4" name="Shape 2"/>
          <p:cNvSpPr/>
          <p:nvPr/>
        </p:nvSpPr>
        <p:spPr>
          <a:xfrm>
            <a:off x="320040" y="1097280"/>
            <a:ext cx="2651760" cy="3749040"/>
          </a:xfrm>
          <a:prstGeom prst="rect">
            <a:avLst/>
          </a:prstGeom>
          <a:solidFill>
            <a:srgbClr val="F8FAF9"/>
          </a:solidFill>
          <a:ln w="12700">
            <a:solidFill>
              <a:srgbClr val="5DCAA5"/>
            </a:solidFill>
            <a:prstDash val="solid"/>
          </a:ln>
        </p:spPr>
      </p:sp>
      <p:sp>
        <p:nvSpPr>
          <p:cNvPr id="5" name="Shape 3"/>
          <p:cNvSpPr/>
          <p:nvPr/>
        </p:nvSpPr>
        <p:spPr>
          <a:xfrm>
            <a:off x="320040" y="1097280"/>
            <a:ext cx="2651760" cy="594360"/>
          </a:xfrm>
          <a:prstGeom prst="rect">
            <a:avLst/>
          </a:prstGeom>
          <a:solidFill>
            <a:srgbClr val="5DCAA5"/>
          </a:solidFill>
          <a:ln/>
        </p:spPr>
      </p:sp>
      <p:sp>
        <p:nvSpPr>
          <p:cNvPr id="6" name="Text 4"/>
          <p:cNvSpPr/>
          <p:nvPr/>
        </p:nvSpPr>
        <p:spPr>
          <a:xfrm>
            <a:off x="411480" y="1115568"/>
            <a:ext cx="1371600" cy="502920"/>
          </a:xfrm>
          <a:prstGeom prst="rect">
            <a:avLst/>
          </a:prstGeom>
          <a:noFill/>
          <a:ln/>
        </p:spPr>
        <p:txBody>
          <a:bodyPr wrap="square" rtlCol="0" anchor="ct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Starter</a:t>
            </a:r>
            <a:endParaRPr lang="en-US" sz="1600" dirty="0"/>
          </a:p>
        </p:txBody>
      </p:sp>
      <p:sp>
        <p:nvSpPr>
          <p:cNvPr id="7" name="Text 5"/>
          <p:cNvSpPr/>
          <p:nvPr/>
        </p:nvSpPr>
        <p:spPr>
          <a:xfrm>
            <a:off x="411480" y="1627632"/>
            <a:ext cx="2468880" cy="411480"/>
          </a:xfrm>
          <a:prstGeom prst="rect">
            <a:avLst/>
          </a:prstGeom>
          <a:noFill/>
          <a:ln/>
        </p:spPr>
        <p:txBody>
          <a:bodyPr wrap="square" rtlCol="0" anchor="ctr"/>
          <a:lstStyle/>
          <a:p>
            <a:pPr algn="l" indent="0" marL="0">
              <a:buNone/>
            </a:pPr>
            <a:r>
              <a:rPr lang="en-US" sz="1800" b="1" dirty="0">
                <a:solidFill>
                  <a:srgbClr val="5DCAA5"/>
                </a:solidFill>
                <a:latin typeface="Trebuchet MS" pitchFamily="34" charset="0"/>
                <a:ea typeface="Trebuchet MS" pitchFamily="34" charset="-122"/>
                <a:cs typeface="Trebuchet MS" pitchFamily="34" charset="-120"/>
              </a:rPr>
              <a:t>$49/mo</a:t>
            </a:r>
            <a:endParaRPr lang="en-US" sz="1800" dirty="0"/>
          </a:p>
        </p:txBody>
      </p:sp>
      <p:sp>
        <p:nvSpPr>
          <p:cNvPr id="8" name="Text 6"/>
          <p:cNvSpPr/>
          <p:nvPr/>
        </p:nvSpPr>
        <p:spPr>
          <a:xfrm>
            <a:off x="411480" y="2011680"/>
            <a:ext cx="2468880" cy="274320"/>
          </a:xfrm>
          <a:prstGeom prst="rect">
            <a:avLst/>
          </a:prstGeom>
          <a:noFill/>
          <a:ln/>
        </p:spPr>
        <p:txBody>
          <a:bodyPr wrap="square" rtlCol="0" anchor="ctr"/>
          <a:lstStyle/>
          <a:p>
            <a:pPr algn="l" indent="0" marL="0">
              <a:buNone/>
            </a:pPr>
            <a:r>
              <a:rPr lang="en-US" sz="1100" dirty="0">
                <a:solidFill>
                  <a:srgbClr val="888780"/>
                </a:solidFill>
                <a:latin typeface="Calibri" pitchFamily="34" charset="0"/>
                <a:ea typeface="Calibri" pitchFamily="34" charset="-122"/>
                <a:cs typeface="Calibri" pitchFamily="34" charset="-120"/>
              </a:rPr>
              <a:t>per month</a:t>
            </a:r>
            <a:endParaRPr lang="en-US" sz="1100" dirty="0"/>
          </a:p>
        </p:txBody>
      </p:sp>
      <p:sp>
        <p:nvSpPr>
          <p:cNvPr id="9" name="Text 7"/>
          <p:cNvSpPr/>
          <p:nvPr/>
        </p:nvSpPr>
        <p:spPr>
          <a:xfrm>
            <a:off x="411480" y="2331720"/>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Full NearBase verified listing</a:t>
            </a:r>
            <a:endParaRPr lang="en-US" sz="1100" dirty="0"/>
          </a:p>
        </p:txBody>
      </p:sp>
      <p:sp>
        <p:nvSpPr>
          <p:cNvPr id="10" name="Text 8"/>
          <p:cNvSpPr/>
          <p:nvPr/>
        </p:nvSpPr>
        <p:spPr>
          <a:xfrm>
            <a:off x="411480" y="2770632"/>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Match Score visible to premium families</a:t>
            </a:r>
            <a:endParaRPr lang="en-US" sz="1100" dirty="0"/>
          </a:p>
        </p:txBody>
      </p:sp>
      <p:sp>
        <p:nvSpPr>
          <p:cNvPr id="11" name="Text 9"/>
          <p:cNvSpPr/>
          <p:nvPr/>
        </p:nvSpPr>
        <p:spPr>
          <a:xfrm>
            <a:off x="411480" y="3209544"/>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Military family badge</a:t>
            </a:r>
            <a:endParaRPr lang="en-US" sz="1100" dirty="0"/>
          </a:p>
        </p:txBody>
      </p:sp>
      <p:sp>
        <p:nvSpPr>
          <p:cNvPr id="12" name="Text 10"/>
          <p:cNvSpPr/>
          <p:nvPr/>
        </p:nvSpPr>
        <p:spPr>
          <a:xfrm>
            <a:off x="411480" y="3648456"/>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Waitlist data reporting access</a:t>
            </a:r>
            <a:endParaRPr lang="en-US" sz="1100" dirty="0"/>
          </a:p>
        </p:txBody>
      </p:sp>
      <p:sp>
        <p:nvSpPr>
          <p:cNvPr id="13" name="Text 11"/>
          <p:cNvSpPr/>
          <p:nvPr/>
        </p:nvSpPr>
        <p:spPr>
          <a:xfrm>
            <a:off x="411480" y="4087368"/>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Basic analytics dashboard</a:t>
            </a:r>
            <a:endParaRPr lang="en-US" sz="1100" dirty="0"/>
          </a:p>
        </p:txBody>
      </p:sp>
      <p:sp>
        <p:nvSpPr>
          <p:cNvPr id="14" name="Shape 12"/>
          <p:cNvSpPr/>
          <p:nvPr/>
        </p:nvSpPr>
        <p:spPr>
          <a:xfrm>
            <a:off x="3154680" y="1097280"/>
            <a:ext cx="2651760" cy="3749040"/>
          </a:xfrm>
          <a:prstGeom prst="rect">
            <a:avLst/>
          </a:prstGeom>
          <a:solidFill>
            <a:srgbClr val="E1F5EE"/>
          </a:solidFill>
          <a:ln w="25400">
            <a:solidFill>
              <a:srgbClr val="1D9E75"/>
            </a:solidFill>
            <a:prstDash val="solid"/>
          </a:ln>
        </p:spPr>
      </p:sp>
      <p:sp>
        <p:nvSpPr>
          <p:cNvPr id="15" name="Shape 13"/>
          <p:cNvSpPr/>
          <p:nvPr/>
        </p:nvSpPr>
        <p:spPr>
          <a:xfrm>
            <a:off x="3154680" y="1097280"/>
            <a:ext cx="2651760" cy="594360"/>
          </a:xfrm>
          <a:prstGeom prst="rect">
            <a:avLst/>
          </a:prstGeom>
          <a:solidFill>
            <a:srgbClr val="1D9E75"/>
          </a:solidFill>
          <a:ln/>
        </p:spPr>
      </p:sp>
      <p:sp>
        <p:nvSpPr>
          <p:cNvPr id="16" name="Text 14"/>
          <p:cNvSpPr/>
          <p:nvPr/>
        </p:nvSpPr>
        <p:spPr>
          <a:xfrm>
            <a:off x="3246120" y="1115568"/>
            <a:ext cx="1371600" cy="502920"/>
          </a:xfrm>
          <a:prstGeom prst="rect">
            <a:avLst/>
          </a:prstGeom>
          <a:noFill/>
          <a:ln/>
        </p:spPr>
        <p:txBody>
          <a:bodyPr wrap="square" rtlCol="0" anchor="ct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Presence</a:t>
            </a:r>
            <a:endParaRPr lang="en-US" sz="1600" dirty="0"/>
          </a:p>
        </p:txBody>
      </p:sp>
      <p:sp>
        <p:nvSpPr>
          <p:cNvPr id="17" name="Text 15"/>
          <p:cNvSpPr/>
          <p:nvPr/>
        </p:nvSpPr>
        <p:spPr>
          <a:xfrm>
            <a:off x="3246120" y="1627632"/>
            <a:ext cx="2468880" cy="411480"/>
          </a:xfrm>
          <a:prstGeom prst="rect">
            <a:avLst/>
          </a:prstGeom>
          <a:noFill/>
          <a:ln/>
        </p:spPr>
        <p:txBody>
          <a:bodyPr wrap="square" rtlCol="0" anchor="ctr"/>
          <a:lstStyle/>
          <a:p>
            <a:pPr algn="l" indent="0" marL="0">
              <a:buNone/>
            </a:pPr>
            <a:r>
              <a:rPr lang="en-US" sz="1800" b="1" dirty="0">
                <a:solidFill>
                  <a:srgbClr val="1D9E75"/>
                </a:solidFill>
                <a:latin typeface="Trebuchet MS" pitchFamily="34" charset="0"/>
                <a:ea typeface="Trebuchet MS" pitchFamily="34" charset="-122"/>
                <a:cs typeface="Trebuchet MS" pitchFamily="34" charset="-120"/>
              </a:rPr>
              <a:t>$149/mo</a:t>
            </a:r>
            <a:endParaRPr lang="en-US" sz="1800" dirty="0"/>
          </a:p>
        </p:txBody>
      </p:sp>
      <p:sp>
        <p:nvSpPr>
          <p:cNvPr id="18" name="Text 16"/>
          <p:cNvSpPr/>
          <p:nvPr/>
        </p:nvSpPr>
        <p:spPr>
          <a:xfrm>
            <a:off x="3246120" y="2011680"/>
            <a:ext cx="2468880" cy="274320"/>
          </a:xfrm>
          <a:prstGeom prst="rect">
            <a:avLst/>
          </a:prstGeom>
          <a:noFill/>
          <a:ln/>
        </p:spPr>
        <p:txBody>
          <a:bodyPr wrap="square" rtlCol="0" anchor="ctr"/>
          <a:lstStyle/>
          <a:p>
            <a:pPr algn="l" indent="0" marL="0">
              <a:buNone/>
            </a:pPr>
            <a:r>
              <a:rPr lang="en-US" sz="1100" dirty="0">
                <a:solidFill>
                  <a:srgbClr val="888780"/>
                </a:solidFill>
                <a:latin typeface="Calibri" pitchFamily="34" charset="0"/>
                <a:ea typeface="Calibri" pitchFamily="34" charset="-122"/>
                <a:cs typeface="Calibri" pitchFamily="34" charset="-120"/>
              </a:rPr>
              <a:t>per month</a:t>
            </a:r>
            <a:endParaRPr lang="en-US" sz="1100" dirty="0"/>
          </a:p>
        </p:txBody>
      </p:sp>
      <p:sp>
        <p:nvSpPr>
          <p:cNvPr id="19" name="Text 17"/>
          <p:cNvSpPr/>
          <p:nvPr/>
        </p:nvSpPr>
        <p:spPr>
          <a:xfrm>
            <a:off x="3246120" y="2331720"/>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Everything in Starter</a:t>
            </a:r>
            <a:endParaRPr lang="en-US" sz="1100" dirty="0"/>
          </a:p>
        </p:txBody>
      </p:sp>
      <p:sp>
        <p:nvSpPr>
          <p:cNvPr id="20" name="Text 18"/>
          <p:cNvSpPr/>
          <p:nvPr/>
        </p:nvSpPr>
        <p:spPr>
          <a:xfrm>
            <a:off x="3246120" y="2770632"/>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5-page professional website built for you</a:t>
            </a:r>
            <a:endParaRPr lang="en-US" sz="1100" dirty="0"/>
          </a:p>
        </p:txBody>
      </p:sp>
      <p:sp>
        <p:nvSpPr>
          <p:cNvPr id="21" name="Text 19"/>
          <p:cNvSpPr/>
          <p:nvPr/>
        </p:nvSpPr>
        <p:spPr>
          <a:xfrm>
            <a:off x="3246120" y="3209544"/>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Mobile-optimized, hosted + maintained</a:t>
            </a:r>
            <a:endParaRPr lang="en-US" sz="1100" dirty="0"/>
          </a:p>
        </p:txBody>
      </p:sp>
      <p:sp>
        <p:nvSpPr>
          <p:cNvPr id="22" name="Text 20"/>
          <p:cNvSpPr/>
          <p:nvPr/>
        </p:nvSpPr>
        <p:spPr>
          <a:xfrm>
            <a:off x="3246120" y="3648456"/>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School profile with photos + programs</a:t>
            </a:r>
            <a:endParaRPr lang="en-US" sz="1100" dirty="0"/>
          </a:p>
        </p:txBody>
      </p:sp>
      <p:sp>
        <p:nvSpPr>
          <p:cNvPr id="23" name="Text 21"/>
          <p:cNvSpPr/>
          <p:nvPr/>
        </p:nvSpPr>
        <p:spPr>
          <a:xfrm>
            <a:off x="3246120" y="4087368"/>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Monthly family inquiry analytics</a:t>
            </a:r>
            <a:endParaRPr lang="en-US" sz="1100" dirty="0"/>
          </a:p>
        </p:txBody>
      </p:sp>
      <p:sp>
        <p:nvSpPr>
          <p:cNvPr id="24" name="Text 22"/>
          <p:cNvSpPr/>
          <p:nvPr/>
        </p:nvSpPr>
        <p:spPr>
          <a:xfrm>
            <a:off x="3657600" y="1143000"/>
            <a:ext cx="1920240" cy="320040"/>
          </a:xfrm>
          <a:prstGeom prst="rect">
            <a:avLst/>
          </a:prstGeom>
          <a:noFill/>
          <a:ln/>
        </p:spPr>
        <p:txBody>
          <a:bodyPr wrap="square" rtlCol="0" anchor="ctr"/>
          <a:lstStyle/>
          <a:p>
            <a:pPr algn="r" indent="0" marL="0">
              <a:buNone/>
            </a:pPr>
            <a:r>
              <a:rPr lang="en-US" sz="900" b="1" spc="200" kern="0" dirty="0">
                <a:solidFill>
                  <a:srgbClr val="FFFFFF"/>
                </a:solidFill>
                <a:latin typeface="Calibri" pitchFamily="34" charset="0"/>
                <a:ea typeface="Calibri" pitchFamily="34" charset="-122"/>
                <a:cs typeface="Calibri" pitchFamily="34" charset="-120"/>
              </a:rPr>
              <a:t>MOST POPULAR</a:t>
            </a:r>
            <a:endParaRPr lang="en-US" sz="900" dirty="0"/>
          </a:p>
        </p:txBody>
      </p:sp>
      <p:sp>
        <p:nvSpPr>
          <p:cNvPr id="25" name="Shape 23"/>
          <p:cNvSpPr/>
          <p:nvPr/>
        </p:nvSpPr>
        <p:spPr>
          <a:xfrm>
            <a:off x="5989320" y="1097280"/>
            <a:ext cx="2651760" cy="3749040"/>
          </a:xfrm>
          <a:prstGeom prst="rect">
            <a:avLst/>
          </a:prstGeom>
          <a:solidFill>
            <a:srgbClr val="F8FAF9"/>
          </a:solidFill>
          <a:ln w="12700">
            <a:solidFill>
              <a:srgbClr val="085041"/>
            </a:solidFill>
            <a:prstDash val="solid"/>
          </a:ln>
        </p:spPr>
      </p:sp>
      <p:sp>
        <p:nvSpPr>
          <p:cNvPr id="26" name="Shape 24"/>
          <p:cNvSpPr/>
          <p:nvPr/>
        </p:nvSpPr>
        <p:spPr>
          <a:xfrm>
            <a:off x="5989320" y="1097280"/>
            <a:ext cx="2651760" cy="594360"/>
          </a:xfrm>
          <a:prstGeom prst="rect">
            <a:avLst/>
          </a:prstGeom>
          <a:solidFill>
            <a:srgbClr val="085041"/>
          </a:solidFill>
          <a:ln/>
        </p:spPr>
      </p:sp>
      <p:sp>
        <p:nvSpPr>
          <p:cNvPr id="27" name="Text 25"/>
          <p:cNvSpPr/>
          <p:nvPr/>
        </p:nvSpPr>
        <p:spPr>
          <a:xfrm>
            <a:off x="6080760" y="1115568"/>
            <a:ext cx="1371600" cy="502920"/>
          </a:xfrm>
          <a:prstGeom prst="rect">
            <a:avLst/>
          </a:prstGeom>
          <a:noFill/>
          <a:ln/>
        </p:spPr>
        <p:txBody>
          <a:bodyPr wrap="square" rtlCol="0" anchor="ct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Partner</a:t>
            </a:r>
            <a:endParaRPr lang="en-US" sz="1600" dirty="0"/>
          </a:p>
        </p:txBody>
      </p:sp>
      <p:sp>
        <p:nvSpPr>
          <p:cNvPr id="28" name="Text 26"/>
          <p:cNvSpPr/>
          <p:nvPr/>
        </p:nvSpPr>
        <p:spPr>
          <a:xfrm>
            <a:off x="6080760" y="1627632"/>
            <a:ext cx="2468880" cy="411480"/>
          </a:xfrm>
          <a:prstGeom prst="rect">
            <a:avLst/>
          </a:prstGeom>
          <a:noFill/>
          <a:ln/>
        </p:spPr>
        <p:txBody>
          <a:bodyPr wrap="square" rtlCol="0" anchor="ctr"/>
          <a:lstStyle/>
          <a:p>
            <a:pPr algn="l" indent="0" marL="0">
              <a:buNone/>
            </a:pPr>
            <a:r>
              <a:rPr lang="en-US" sz="1800" b="1" dirty="0">
                <a:solidFill>
                  <a:srgbClr val="085041"/>
                </a:solidFill>
                <a:latin typeface="Trebuchet MS" pitchFamily="34" charset="0"/>
                <a:ea typeface="Trebuchet MS" pitchFamily="34" charset="-122"/>
                <a:cs typeface="Trebuchet MS" pitchFamily="34" charset="-120"/>
              </a:rPr>
              <a:t>$299/mo</a:t>
            </a:r>
            <a:endParaRPr lang="en-US" sz="1800" dirty="0"/>
          </a:p>
        </p:txBody>
      </p:sp>
      <p:sp>
        <p:nvSpPr>
          <p:cNvPr id="29" name="Text 27"/>
          <p:cNvSpPr/>
          <p:nvPr/>
        </p:nvSpPr>
        <p:spPr>
          <a:xfrm>
            <a:off x="6080760" y="2011680"/>
            <a:ext cx="2468880" cy="274320"/>
          </a:xfrm>
          <a:prstGeom prst="rect">
            <a:avLst/>
          </a:prstGeom>
          <a:noFill/>
          <a:ln/>
        </p:spPr>
        <p:txBody>
          <a:bodyPr wrap="square" rtlCol="0" anchor="ctr"/>
          <a:lstStyle/>
          <a:p>
            <a:pPr algn="l" indent="0" marL="0">
              <a:buNone/>
            </a:pPr>
            <a:r>
              <a:rPr lang="en-US" sz="1100" dirty="0">
                <a:solidFill>
                  <a:srgbClr val="888780"/>
                </a:solidFill>
                <a:latin typeface="Calibri" pitchFamily="34" charset="0"/>
                <a:ea typeface="Calibri" pitchFamily="34" charset="-122"/>
                <a:cs typeface="Calibri" pitchFamily="34" charset="-120"/>
              </a:rPr>
              <a:t>per month</a:t>
            </a:r>
            <a:endParaRPr lang="en-US" sz="1100" dirty="0"/>
          </a:p>
        </p:txBody>
      </p:sp>
      <p:sp>
        <p:nvSpPr>
          <p:cNvPr id="30" name="Text 28"/>
          <p:cNvSpPr/>
          <p:nvPr/>
        </p:nvSpPr>
        <p:spPr>
          <a:xfrm>
            <a:off x="6080760" y="2331720"/>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Everything in Presence</a:t>
            </a:r>
            <a:endParaRPr lang="en-US" sz="1100" dirty="0"/>
          </a:p>
        </p:txBody>
      </p:sp>
      <p:sp>
        <p:nvSpPr>
          <p:cNvPr id="31" name="Text 29"/>
          <p:cNvSpPr/>
          <p:nvPr/>
        </p:nvSpPr>
        <p:spPr>
          <a:xfrm>
            <a:off x="6080760" y="2770632"/>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Featured placement in search results</a:t>
            </a:r>
            <a:endParaRPr lang="en-US" sz="1100" dirty="0"/>
          </a:p>
        </p:txBody>
      </p:sp>
      <p:sp>
        <p:nvSpPr>
          <p:cNvPr id="32" name="Text 30"/>
          <p:cNvSpPr/>
          <p:nvPr/>
        </p:nvSpPr>
        <p:spPr>
          <a:xfrm>
            <a:off x="6080760" y="3209544"/>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Verified partner badge</a:t>
            </a:r>
            <a:endParaRPr lang="en-US" sz="1100" dirty="0"/>
          </a:p>
        </p:txBody>
      </p:sp>
      <p:sp>
        <p:nvSpPr>
          <p:cNvPr id="33" name="Text 31"/>
          <p:cNvSpPr/>
          <p:nvPr/>
        </p:nvSpPr>
        <p:spPr>
          <a:xfrm>
            <a:off x="6080760" y="3648456"/>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Real-time waitlist self-update dashboard</a:t>
            </a:r>
            <a:endParaRPr lang="en-US" sz="1100" dirty="0"/>
          </a:p>
        </p:txBody>
      </p:sp>
      <p:sp>
        <p:nvSpPr>
          <p:cNvPr id="34" name="Text 32"/>
          <p:cNvSpPr/>
          <p:nvPr/>
        </p:nvSpPr>
        <p:spPr>
          <a:xfrm>
            <a:off x="6080760" y="4087368"/>
            <a:ext cx="2468880" cy="384048"/>
          </a:xfrm>
          <a:prstGeom prst="rect">
            <a:avLst/>
          </a:prstGeom>
          <a:noFill/>
          <a:ln/>
        </p:spPr>
        <p:txBody>
          <a:bodyPr wrap="square" rtlCol="0" anchor="ctr"/>
          <a:lstStyle/>
          <a:p>
            <a:pPr algn="l" indent="0" marL="0">
              <a:buNone/>
            </a:pPr>
            <a:r>
              <a:rPr lang="en-US" sz="1100" dirty="0">
                <a:solidFill>
                  <a:srgbClr val="444441"/>
                </a:solidFill>
                <a:latin typeface="Calibri" pitchFamily="34" charset="0"/>
                <a:ea typeface="Calibri" pitchFamily="34" charset="-122"/>
                <a:cs typeface="Calibri" pitchFamily="34" charset="-120"/>
              </a:rPr>
              <a:t>✓  Priority support + quarterly review</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D9E75"/>
          </a:solidFill>
          <a:ln/>
        </p:spPr>
      </p:sp>
      <p:sp>
        <p:nvSpPr>
          <p:cNvPr id="3" name="Text 1"/>
          <p:cNvSpPr/>
          <p:nvPr/>
        </p:nvSpPr>
        <p:spPr>
          <a:xfrm>
            <a:off x="457200" y="137160"/>
            <a:ext cx="8229600" cy="731520"/>
          </a:xfrm>
          <a:prstGeom prst="rect">
            <a:avLst/>
          </a:prstGeom>
          <a:noFill/>
          <a:ln/>
        </p:spPr>
        <p:txBody>
          <a:bodyPr wrap="square" rtlCol="0" anchor="ctr"/>
          <a:lstStyle/>
          <a:p>
            <a:pPr algn="l" indent="0" marL="0">
              <a:buNone/>
            </a:pPr>
            <a:r>
              <a:rPr lang="en-US" sz="2200" b="1" dirty="0">
                <a:solidFill>
                  <a:srgbClr val="FFFFFF"/>
                </a:solidFill>
                <a:latin typeface="Trebuchet MS" pitchFamily="34" charset="0"/>
                <a:ea typeface="Trebuchet MS" pitchFamily="34" charset="-122"/>
                <a:cs typeface="Trebuchet MS" pitchFamily="34" charset="-120"/>
              </a:rPr>
              <a:t>The return on investment — one enrollment pays for years</a:t>
            </a:r>
            <a:endParaRPr lang="en-US" sz="2200" dirty="0"/>
          </a:p>
        </p:txBody>
      </p:sp>
      <p:sp>
        <p:nvSpPr>
          <p:cNvPr id="4" name="Shape 2"/>
          <p:cNvSpPr/>
          <p:nvPr/>
        </p:nvSpPr>
        <p:spPr>
          <a:xfrm>
            <a:off x="365760" y="1097280"/>
            <a:ext cx="4023360" cy="3657600"/>
          </a:xfrm>
          <a:prstGeom prst="rect">
            <a:avLst/>
          </a:prstGeom>
          <a:solidFill>
            <a:srgbClr val="E1F5EE"/>
          </a:solidFill>
          <a:ln/>
        </p:spPr>
      </p:sp>
      <p:sp>
        <p:nvSpPr>
          <p:cNvPr id="5" name="Text 3"/>
          <p:cNvSpPr/>
          <p:nvPr/>
        </p:nvSpPr>
        <p:spPr>
          <a:xfrm>
            <a:off x="457200" y="1188720"/>
            <a:ext cx="3840480" cy="365760"/>
          </a:xfrm>
          <a:prstGeom prst="rect">
            <a:avLst/>
          </a:prstGeom>
          <a:noFill/>
          <a:ln/>
        </p:spPr>
        <p:txBody>
          <a:bodyPr wrap="square" rtlCol="0" anchor="ctr"/>
          <a:lstStyle/>
          <a:p>
            <a:pPr algn="l" indent="0" marL="0">
              <a:buNone/>
            </a:pPr>
            <a:r>
              <a:rPr lang="en-US" sz="1400" b="1" dirty="0">
                <a:solidFill>
                  <a:srgbClr val="085041"/>
                </a:solidFill>
                <a:latin typeface="Trebuchet MS" pitchFamily="34" charset="0"/>
                <a:ea typeface="Trebuchet MS" pitchFamily="34" charset="-122"/>
                <a:cs typeface="Trebuchet MS" pitchFamily="34" charset="-120"/>
              </a:rPr>
              <a:t>A typical NCR preschool</a:t>
            </a:r>
            <a:endParaRPr lang="en-US" sz="1400" dirty="0"/>
          </a:p>
        </p:txBody>
      </p:sp>
      <p:sp>
        <p:nvSpPr>
          <p:cNvPr id="6" name="Text 4"/>
          <p:cNvSpPr/>
          <p:nvPr/>
        </p:nvSpPr>
        <p:spPr>
          <a:xfrm>
            <a:off x="548640" y="1691640"/>
            <a:ext cx="2011680" cy="411480"/>
          </a:xfrm>
          <a:prstGeom prst="rect">
            <a:avLst/>
          </a:prstGeom>
          <a:noFill/>
          <a:ln/>
        </p:spPr>
        <p:txBody>
          <a:bodyPr wrap="square" rtlCol="0" anchor="ctr"/>
          <a:lstStyle/>
          <a:p>
            <a:pPr algn="l" indent="0" marL="0">
              <a:buNone/>
            </a:pPr>
            <a:r>
              <a:rPr lang="en-US" sz="1400" dirty="0">
                <a:solidFill>
                  <a:srgbClr val="444441"/>
                </a:solidFill>
                <a:latin typeface="Calibri" pitchFamily="34" charset="0"/>
                <a:ea typeface="Calibri" pitchFamily="34" charset="-122"/>
                <a:cs typeface="Calibri" pitchFamily="34" charset="-120"/>
              </a:rPr>
              <a:t>30 enrolled children</a:t>
            </a:r>
            <a:endParaRPr lang="en-US" sz="1400" dirty="0"/>
          </a:p>
        </p:txBody>
      </p:sp>
      <p:sp>
        <p:nvSpPr>
          <p:cNvPr id="7" name="Text 5"/>
          <p:cNvSpPr/>
          <p:nvPr/>
        </p:nvSpPr>
        <p:spPr>
          <a:xfrm>
            <a:off x="2560320" y="1691640"/>
            <a:ext cx="1645920" cy="411480"/>
          </a:xfrm>
          <a:prstGeom prst="rect">
            <a:avLst/>
          </a:prstGeom>
          <a:noFill/>
          <a:ln/>
        </p:spPr>
        <p:txBody>
          <a:bodyPr wrap="square" rtlCol="0" anchor="ctr"/>
          <a:lstStyle/>
          <a:p>
            <a:pPr algn="l" indent="0" marL="0">
              <a:buNone/>
            </a:pPr>
            <a:r>
              <a:rPr lang="en-US" sz="1200" i="1" dirty="0">
                <a:solidFill>
                  <a:srgbClr val="888780"/>
                </a:solidFill>
                <a:latin typeface="Calibri" pitchFamily="34" charset="0"/>
                <a:ea typeface="Calibri" pitchFamily="34" charset="-122"/>
                <a:cs typeface="Calibri" pitchFamily="34" charset="-120"/>
              </a:rPr>
              <a:t>average center size</a:t>
            </a:r>
            <a:endParaRPr lang="en-US" sz="1200" dirty="0"/>
          </a:p>
        </p:txBody>
      </p:sp>
      <p:sp>
        <p:nvSpPr>
          <p:cNvPr id="8" name="Text 6"/>
          <p:cNvSpPr/>
          <p:nvPr/>
        </p:nvSpPr>
        <p:spPr>
          <a:xfrm>
            <a:off x="548640" y="2194560"/>
            <a:ext cx="2011680" cy="411480"/>
          </a:xfrm>
          <a:prstGeom prst="rect">
            <a:avLst/>
          </a:prstGeom>
          <a:noFill/>
          <a:ln/>
        </p:spPr>
        <p:txBody>
          <a:bodyPr wrap="square" rtlCol="0" anchor="ctr"/>
          <a:lstStyle/>
          <a:p>
            <a:pPr algn="l" indent="0" marL="0">
              <a:buNone/>
            </a:pPr>
            <a:r>
              <a:rPr lang="en-US" sz="1400" dirty="0">
                <a:solidFill>
                  <a:srgbClr val="444441"/>
                </a:solidFill>
                <a:latin typeface="Calibri" pitchFamily="34" charset="0"/>
                <a:ea typeface="Calibri" pitchFamily="34" charset="-122"/>
                <a:cs typeface="Calibri" pitchFamily="34" charset="-120"/>
              </a:rPr>
              <a:t>$1,200/mo per child</a:t>
            </a:r>
            <a:endParaRPr lang="en-US" sz="1400" dirty="0"/>
          </a:p>
        </p:txBody>
      </p:sp>
      <p:sp>
        <p:nvSpPr>
          <p:cNvPr id="9" name="Text 7"/>
          <p:cNvSpPr/>
          <p:nvPr/>
        </p:nvSpPr>
        <p:spPr>
          <a:xfrm>
            <a:off x="2560320" y="2194560"/>
            <a:ext cx="1645920" cy="411480"/>
          </a:xfrm>
          <a:prstGeom prst="rect">
            <a:avLst/>
          </a:prstGeom>
          <a:noFill/>
          <a:ln/>
        </p:spPr>
        <p:txBody>
          <a:bodyPr wrap="square" rtlCol="0" anchor="ctr"/>
          <a:lstStyle/>
          <a:p>
            <a:pPr algn="l" indent="0" marL="0">
              <a:buNone/>
            </a:pPr>
            <a:r>
              <a:rPr lang="en-US" sz="1200" i="1" dirty="0">
                <a:solidFill>
                  <a:srgbClr val="888780"/>
                </a:solidFill>
                <a:latin typeface="Calibri" pitchFamily="34" charset="0"/>
                <a:ea typeface="Calibri" pitchFamily="34" charset="-122"/>
                <a:cs typeface="Calibri" pitchFamily="34" charset="-120"/>
              </a:rPr>
              <a:t>average NCR tuition</a:t>
            </a:r>
            <a:endParaRPr lang="en-US" sz="1200" dirty="0"/>
          </a:p>
        </p:txBody>
      </p:sp>
      <p:sp>
        <p:nvSpPr>
          <p:cNvPr id="10" name="Text 8"/>
          <p:cNvSpPr/>
          <p:nvPr/>
        </p:nvSpPr>
        <p:spPr>
          <a:xfrm>
            <a:off x="548640" y="2697480"/>
            <a:ext cx="2011680" cy="411480"/>
          </a:xfrm>
          <a:prstGeom prst="rect">
            <a:avLst/>
          </a:prstGeom>
          <a:noFill/>
          <a:ln/>
        </p:spPr>
        <p:txBody>
          <a:bodyPr wrap="square" rtlCol="0" anchor="ctr"/>
          <a:lstStyle/>
          <a:p>
            <a:pPr algn="l" indent="0" marL="0">
              <a:buNone/>
            </a:pPr>
            <a:r>
              <a:rPr lang="en-US" sz="1400" dirty="0">
                <a:solidFill>
                  <a:srgbClr val="444441"/>
                </a:solidFill>
                <a:latin typeface="Calibri" pitchFamily="34" charset="0"/>
                <a:ea typeface="Calibri" pitchFamily="34" charset="-122"/>
                <a:cs typeface="Calibri" pitchFamily="34" charset="-120"/>
              </a:rPr>
              <a:t>$36,000/mo</a:t>
            </a:r>
            <a:endParaRPr lang="en-US" sz="1400" dirty="0"/>
          </a:p>
        </p:txBody>
      </p:sp>
      <p:sp>
        <p:nvSpPr>
          <p:cNvPr id="11" name="Text 9"/>
          <p:cNvSpPr/>
          <p:nvPr/>
        </p:nvSpPr>
        <p:spPr>
          <a:xfrm>
            <a:off x="2560320" y="2697480"/>
            <a:ext cx="1645920" cy="411480"/>
          </a:xfrm>
          <a:prstGeom prst="rect">
            <a:avLst/>
          </a:prstGeom>
          <a:noFill/>
          <a:ln/>
        </p:spPr>
        <p:txBody>
          <a:bodyPr wrap="square" rtlCol="0" anchor="ctr"/>
          <a:lstStyle/>
          <a:p>
            <a:pPr algn="l" indent="0" marL="0">
              <a:buNone/>
            </a:pPr>
            <a:r>
              <a:rPr lang="en-US" sz="1200" i="1" dirty="0">
                <a:solidFill>
                  <a:srgbClr val="888780"/>
                </a:solidFill>
                <a:latin typeface="Calibri" pitchFamily="34" charset="0"/>
                <a:ea typeface="Calibri" pitchFamily="34" charset="-122"/>
                <a:cs typeface="Calibri" pitchFamily="34" charset="-120"/>
              </a:rPr>
              <a:t>gross monthly revenue</a:t>
            </a:r>
            <a:endParaRPr lang="en-US" sz="1200" dirty="0"/>
          </a:p>
        </p:txBody>
      </p:sp>
      <p:sp>
        <p:nvSpPr>
          <p:cNvPr id="12" name="Text 10"/>
          <p:cNvSpPr/>
          <p:nvPr/>
        </p:nvSpPr>
        <p:spPr>
          <a:xfrm>
            <a:off x="548640" y="3200400"/>
            <a:ext cx="2011680" cy="411480"/>
          </a:xfrm>
          <a:prstGeom prst="rect">
            <a:avLst/>
          </a:prstGeom>
          <a:noFill/>
          <a:ln/>
        </p:spPr>
        <p:txBody>
          <a:bodyPr wrap="square" rtlCol="0" anchor="ctr"/>
          <a:lstStyle/>
          <a:p>
            <a:pPr algn="l" indent="0" marL="0">
              <a:buNone/>
            </a:pPr>
            <a:r>
              <a:rPr lang="en-US" sz="1400" b="1" dirty="0">
                <a:solidFill>
                  <a:srgbClr val="085041"/>
                </a:solidFill>
                <a:latin typeface="Calibri" pitchFamily="34" charset="0"/>
                <a:ea typeface="Calibri" pitchFamily="34" charset="-122"/>
                <a:cs typeface="Calibri" pitchFamily="34" charset="-120"/>
              </a:rPr>
              <a:t>$149/mo</a:t>
            </a:r>
            <a:endParaRPr lang="en-US" sz="1400" dirty="0"/>
          </a:p>
        </p:txBody>
      </p:sp>
      <p:sp>
        <p:nvSpPr>
          <p:cNvPr id="13" name="Text 11"/>
          <p:cNvSpPr/>
          <p:nvPr/>
        </p:nvSpPr>
        <p:spPr>
          <a:xfrm>
            <a:off x="2560320" y="3200400"/>
            <a:ext cx="1645920" cy="411480"/>
          </a:xfrm>
          <a:prstGeom prst="rect">
            <a:avLst/>
          </a:prstGeom>
          <a:noFill/>
          <a:ln/>
        </p:spPr>
        <p:txBody>
          <a:bodyPr wrap="square" rtlCol="0" anchor="ctr"/>
          <a:lstStyle/>
          <a:p>
            <a:pPr algn="l" indent="0" marL="0">
              <a:buNone/>
            </a:pPr>
            <a:r>
              <a:rPr lang="en-US" sz="1200" i="1" dirty="0">
                <a:solidFill>
                  <a:srgbClr val="888780"/>
                </a:solidFill>
                <a:latin typeface="Calibri" pitchFamily="34" charset="0"/>
                <a:ea typeface="Calibri" pitchFamily="34" charset="-122"/>
                <a:cs typeface="Calibri" pitchFamily="34" charset="-120"/>
              </a:rPr>
              <a:t>NearBase Presence plan</a:t>
            </a:r>
            <a:endParaRPr lang="en-US" sz="1200" dirty="0"/>
          </a:p>
        </p:txBody>
      </p:sp>
      <p:sp>
        <p:nvSpPr>
          <p:cNvPr id="14" name="Text 12"/>
          <p:cNvSpPr/>
          <p:nvPr/>
        </p:nvSpPr>
        <p:spPr>
          <a:xfrm>
            <a:off x="548640" y="3703320"/>
            <a:ext cx="2011680" cy="411480"/>
          </a:xfrm>
          <a:prstGeom prst="rect">
            <a:avLst/>
          </a:prstGeom>
          <a:noFill/>
          <a:ln/>
        </p:spPr>
        <p:txBody>
          <a:bodyPr wrap="square" rtlCol="0" anchor="ctr"/>
          <a:lstStyle/>
          <a:p>
            <a:pPr algn="l" indent="0" marL="0">
              <a:buNone/>
            </a:pPr>
            <a:r>
              <a:rPr lang="en-US" sz="1400" b="1" dirty="0">
                <a:solidFill>
                  <a:srgbClr val="085041"/>
                </a:solidFill>
                <a:latin typeface="Calibri" pitchFamily="34" charset="0"/>
                <a:ea typeface="Calibri" pitchFamily="34" charset="-122"/>
                <a:cs typeface="Calibri" pitchFamily="34" charset="-120"/>
              </a:rPr>
              <a:t>0.4%</a:t>
            </a:r>
            <a:endParaRPr lang="en-US" sz="1400" dirty="0"/>
          </a:p>
        </p:txBody>
      </p:sp>
      <p:sp>
        <p:nvSpPr>
          <p:cNvPr id="15" name="Text 13"/>
          <p:cNvSpPr/>
          <p:nvPr/>
        </p:nvSpPr>
        <p:spPr>
          <a:xfrm>
            <a:off x="2560320" y="3703320"/>
            <a:ext cx="1645920" cy="411480"/>
          </a:xfrm>
          <a:prstGeom prst="rect">
            <a:avLst/>
          </a:prstGeom>
          <a:noFill/>
          <a:ln/>
        </p:spPr>
        <p:txBody>
          <a:bodyPr wrap="square" rtlCol="0" anchor="ctr"/>
          <a:lstStyle/>
          <a:p>
            <a:pPr algn="l" indent="0" marL="0">
              <a:buNone/>
            </a:pPr>
            <a:r>
              <a:rPr lang="en-US" sz="1200" i="1" dirty="0">
                <a:solidFill>
                  <a:srgbClr val="888780"/>
                </a:solidFill>
                <a:latin typeface="Calibri" pitchFamily="34" charset="0"/>
                <a:ea typeface="Calibri" pitchFamily="34" charset="-122"/>
                <a:cs typeface="Calibri" pitchFamily="34" charset="-120"/>
              </a:rPr>
              <a:t>of monthly revenue</a:t>
            </a:r>
            <a:endParaRPr lang="en-US" sz="1200" dirty="0"/>
          </a:p>
        </p:txBody>
      </p:sp>
      <p:sp>
        <p:nvSpPr>
          <p:cNvPr id="16" name="Shape 14"/>
          <p:cNvSpPr/>
          <p:nvPr/>
        </p:nvSpPr>
        <p:spPr>
          <a:xfrm>
            <a:off x="4663440" y="1097280"/>
            <a:ext cx="4114800" cy="3657600"/>
          </a:xfrm>
          <a:prstGeom prst="rect">
            <a:avLst/>
          </a:prstGeom>
          <a:solidFill>
            <a:srgbClr val="085041"/>
          </a:solidFill>
          <a:ln/>
        </p:spPr>
      </p:sp>
      <p:sp>
        <p:nvSpPr>
          <p:cNvPr id="17" name="Text 15"/>
          <p:cNvSpPr/>
          <p:nvPr/>
        </p:nvSpPr>
        <p:spPr>
          <a:xfrm>
            <a:off x="4754880" y="1188720"/>
            <a:ext cx="3931920" cy="365760"/>
          </a:xfrm>
          <a:prstGeom prst="rect">
            <a:avLst/>
          </a:prstGeom>
          <a:noFill/>
          <a:ln/>
        </p:spPr>
        <p:txBody>
          <a:bodyPr wrap="square" rtlCol="0" anchor="ctr"/>
          <a:lstStyle/>
          <a:p>
            <a:pPr algn="l" indent="0" marL="0">
              <a:buNone/>
            </a:pPr>
            <a:r>
              <a:rPr lang="en-US" sz="1400" b="1" dirty="0">
                <a:solidFill>
                  <a:srgbClr val="1D9E75"/>
                </a:solidFill>
                <a:latin typeface="Trebuchet MS" pitchFamily="34" charset="0"/>
                <a:ea typeface="Trebuchet MS" pitchFamily="34" charset="-122"/>
                <a:cs typeface="Trebuchet MS" pitchFamily="34" charset="-120"/>
              </a:rPr>
              <a:t>If NearBase drives one enrollment</a:t>
            </a:r>
            <a:endParaRPr lang="en-US" sz="1400" dirty="0"/>
          </a:p>
        </p:txBody>
      </p:sp>
      <p:sp>
        <p:nvSpPr>
          <p:cNvPr id="18" name="Text 16"/>
          <p:cNvSpPr/>
          <p:nvPr/>
        </p:nvSpPr>
        <p:spPr>
          <a:xfrm>
            <a:off x="4754880" y="1691640"/>
            <a:ext cx="3840480" cy="822960"/>
          </a:xfrm>
          <a:prstGeom prst="rect">
            <a:avLst/>
          </a:prstGeom>
          <a:noFill/>
          <a:ln/>
        </p:spPr>
        <p:txBody>
          <a:bodyPr wrap="square" rtlCol="0" anchor="ctr"/>
          <a:lstStyle/>
          <a:p>
            <a:pPr algn="ctr" indent="0" marL="0">
              <a:buNone/>
            </a:pPr>
            <a:r>
              <a:rPr lang="en-US" sz="4800" b="1" dirty="0">
                <a:solidFill>
                  <a:srgbClr val="FFFFFF"/>
                </a:solidFill>
                <a:latin typeface="Trebuchet MS" pitchFamily="34" charset="0"/>
                <a:ea typeface="Trebuchet MS" pitchFamily="34" charset="-122"/>
                <a:cs typeface="Trebuchet MS" pitchFamily="34" charset="-120"/>
              </a:rPr>
              <a:t>$14,400</a:t>
            </a:r>
            <a:endParaRPr lang="en-US" sz="4800" dirty="0"/>
          </a:p>
        </p:txBody>
      </p:sp>
      <p:sp>
        <p:nvSpPr>
          <p:cNvPr id="19" name="Text 17"/>
          <p:cNvSpPr/>
          <p:nvPr/>
        </p:nvSpPr>
        <p:spPr>
          <a:xfrm>
            <a:off x="4754880" y="2514600"/>
            <a:ext cx="3840480" cy="365760"/>
          </a:xfrm>
          <a:prstGeom prst="rect">
            <a:avLst/>
          </a:prstGeom>
          <a:noFill/>
          <a:ln/>
        </p:spPr>
        <p:txBody>
          <a:bodyPr wrap="square" rtlCol="0" anchor="ctr"/>
          <a:lstStyle/>
          <a:p>
            <a:pPr algn="ctr" indent="0" marL="0">
              <a:buNone/>
            </a:pPr>
            <a:r>
              <a:rPr lang="en-US" sz="1200" dirty="0">
                <a:solidFill>
                  <a:srgbClr val="9FE1CB"/>
                </a:solidFill>
                <a:latin typeface="Calibri" pitchFamily="34" charset="0"/>
                <a:ea typeface="Calibri" pitchFamily="34" charset="-122"/>
                <a:cs typeface="Calibri" pitchFamily="34" charset="-120"/>
              </a:rPr>
              <a:t>annual tuition revenue from one child</a:t>
            </a:r>
            <a:endParaRPr lang="en-US" sz="1200" dirty="0"/>
          </a:p>
        </p:txBody>
      </p:sp>
      <p:sp>
        <p:nvSpPr>
          <p:cNvPr id="20" name="Text 18"/>
          <p:cNvSpPr/>
          <p:nvPr/>
        </p:nvSpPr>
        <p:spPr>
          <a:xfrm>
            <a:off x="4754880" y="2926080"/>
            <a:ext cx="3840480" cy="320040"/>
          </a:xfrm>
          <a:prstGeom prst="rect">
            <a:avLst/>
          </a:prstGeom>
          <a:noFill/>
          <a:ln/>
        </p:spPr>
        <p:txBody>
          <a:bodyPr wrap="square" rtlCol="0" anchor="ctr"/>
          <a:lstStyle/>
          <a:p>
            <a:pPr algn="ctr" indent="0" marL="0">
              <a:buNone/>
            </a:pPr>
            <a:r>
              <a:rPr lang="en-US" sz="1200" dirty="0">
                <a:solidFill>
                  <a:srgbClr val="9FE1CB"/>
                </a:solidFill>
                <a:latin typeface="Calibri" pitchFamily="34" charset="0"/>
                <a:ea typeface="Calibri" pitchFamily="34" charset="-122"/>
                <a:cs typeface="Calibri" pitchFamily="34" charset="-120"/>
              </a:rPr>
              <a:t>vs. $1,788/yr for the Presence plan</a:t>
            </a:r>
            <a:endParaRPr lang="en-US" sz="1200" dirty="0"/>
          </a:p>
        </p:txBody>
      </p:sp>
      <p:sp>
        <p:nvSpPr>
          <p:cNvPr id="21" name="Text 19"/>
          <p:cNvSpPr/>
          <p:nvPr/>
        </p:nvSpPr>
        <p:spPr>
          <a:xfrm>
            <a:off x="4754880" y="3383280"/>
            <a:ext cx="3840480" cy="640080"/>
          </a:xfrm>
          <a:prstGeom prst="rect">
            <a:avLst/>
          </a:prstGeom>
          <a:noFill/>
          <a:ln/>
        </p:spPr>
        <p:txBody>
          <a:bodyPr wrap="square" rtlCol="0" anchor="ctr"/>
          <a:lstStyle/>
          <a:p>
            <a:pPr algn="ctr" indent="0" marL="0">
              <a:buNone/>
            </a:pPr>
            <a:r>
              <a:rPr lang="en-US" sz="3600" b="1" dirty="0">
                <a:solidFill>
                  <a:srgbClr val="1D9E75"/>
                </a:solidFill>
                <a:latin typeface="Trebuchet MS" pitchFamily="34" charset="0"/>
                <a:ea typeface="Trebuchet MS" pitchFamily="34" charset="-122"/>
                <a:cs typeface="Trebuchet MS" pitchFamily="34" charset="-120"/>
              </a:rPr>
              <a:t>8:1 ROI</a:t>
            </a:r>
            <a:endParaRPr lang="en-US" sz="3600" dirty="0"/>
          </a:p>
        </p:txBody>
      </p:sp>
      <p:sp>
        <p:nvSpPr>
          <p:cNvPr id="22" name="Text 20"/>
          <p:cNvSpPr/>
          <p:nvPr/>
        </p:nvSpPr>
        <p:spPr>
          <a:xfrm>
            <a:off x="4754880" y="4023360"/>
            <a:ext cx="3840480" cy="365760"/>
          </a:xfrm>
          <a:prstGeom prst="rect">
            <a:avLst/>
          </a:prstGeom>
          <a:noFill/>
          <a:ln/>
        </p:spPr>
        <p:txBody>
          <a:bodyPr wrap="square" rtlCol="0" anchor="ctr"/>
          <a:lstStyle/>
          <a:p>
            <a:pPr algn="ctr" indent="0" marL="0">
              <a:buNone/>
            </a:pPr>
            <a:r>
              <a:rPr lang="en-US" sz="1200" i="1" dirty="0">
                <a:solidFill>
                  <a:srgbClr val="888780"/>
                </a:solidFill>
                <a:latin typeface="Calibri" pitchFamily="34" charset="0"/>
                <a:ea typeface="Calibri" pitchFamily="34" charset="-122"/>
                <a:cs typeface="Calibri" pitchFamily="34" charset="-120"/>
              </a:rPr>
              <a:t>on the first enrollment alone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85041"/>
          </a:solidFill>
          <a:ln/>
        </p:spPr>
      </p:sp>
      <p:sp>
        <p:nvSpPr>
          <p:cNvPr id="3" name="Text 1"/>
          <p:cNvSpPr/>
          <p:nvPr/>
        </p:nvSpPr>
        <p:spPr>
          <a:xfrm>
            <a:off x="457200" y="137160"/>
            <a:ext cx="8229600" cy="731520"/>
          </a:xfrm>
          <a:prstGeom prst="rect">
            <a:avLst/>
          </a:prstGeom>
          <a:noFill/>
          <a:ln/>
        </p:spPr>
        <p:txBody>
          <a:bodyPr wrap="square" rtlCol="0" anchor="ctr"/>
          <a:lstStyle/>
          <a:p>
            <a:pPr algn="l" indent="0" marL="0">
              <a:buNone/>
            </a:pPr>
            <a:r>
              <a:rPr lang="en-US" sz="2600" b="1" dirty="0">
                <a:solidFill>
                  <a:srgbClr val="FFFFFF"/>
                </a:solidFill>
                <a:latin typeface="Trebuchet MS" pitchFamily="34" charset="0"/>
                <a:ea typeface="Trebuchet MS" pitchFamily="34" charset="-122"/>
                <a:cs typeface="Trebuchet MS" pitchFamily="34" charset="-120"/>
              </a:rPr>
              <a:t>No website? We build one for you.</a:t>
            </a:r>
            <a:endParaRPr lang="en-US" sz="2600" dirty="0"/>
          </a:p>
        </p:txBody>
      </p:sp>
      <p:sp>
        <p:nvSpPr>
          <p:cNvPr id="4" name="Text 2"/>
          <p:cNvSpPr/>
          <p:nvPr/>
        </p:nvSpPr>
        <p:spPr>
          <a:xfrm>
            <a:off x="457200" y="1097280"/>
            <a:ext cx="8229600" cy="640080"/>
          </a:xfrm>
          <a:prstGeom prst="rect">
            <a:avLst/>
          </a:prstGeom>
          <a:noFill/>
          <a:ln/>
        </p:spPr>
        <p:txBody>
          <a:bodyPr wrap="square" rtlCol="0" anchor="ctr"/>
          <a:lstStyle/>
          <a:p>
            <a:pPr algn="l" indent="0" marL="0">
              <a:buNone/>
            </a:pPr>
            <a:r>
              <a:rPr lang="en-US" sz="1400" dirty="0">
                <a:solidFill>
                  <a:srgbClr val="444441"/>
                </a:solidFill>
                <a:latin typeface="Calibri" pitchFamily="34" charset="0"/>
                <a:ea typeface="Calibri" pitchFamily="34" charset="-122"/>
                <a:cs typeface="Calibri" pitchFamily="34" charset="-120"/>
              </a:rPr>
              <a:t>Many of the best preschools in the NCR have no web presence at all — which means military families searching from 1,000 miles away simply can't find them. We change that.</a:t>
            </a:r>
            <a:endParaRPr lang="en-US" sz="1400" dirty="0"/>
          </a:p>
        </p:txBody>
      </p:sp>
      <p:sp>
        <p:nvSpPr>
          <p:cNvPr id="5" name="Shape 3"/>
          <p:cNvSpPr/>
          <p:nvPr/>
        </p:nvSpPr>
        <p:spPr>
          <a:xfrm>
            <a:off x="457200" y="1920240"/>
            <a:ext cx="1554480" cy="1645920"/>
          </a:xfrm>
          <a:prstGeom prst="rect">
            <a:avLst/>
          </a:prstGeom>
          <a:solidFill>
            <a:srgbClr val="E1F5EE"/>
          </a:solidFill>
          <a:ln w="12700">
            <a:solidFill>
              <a:srgbClr val="1D9E75"/>
            </a:solidFill>
            <a:prstDash val="solid"/>
          </a:ln>
        </p:spPr>
      </p:sp>
      <p:sp>
        <p:nvSpPr>
          <p:cNvPr id="6" name="Text 4"/>
          <p:cNvSpPr/>
          <p:nvPr/>
        </p:nvSpPr>
        <p:spPr>
          <a:xfrm>
            <a:off x="502920" y="1993392"/>
            <a:ext cx="1463040" cy="411480"/>
          </a:xfrm>
          <a:prstGeom prst="rect">
            <a:avLst/>
          </a:prstGeom>
          <a:noFill/>
          <a:ln/>
        </p:spPr>
        <p:txBody>
          <a:bodyPr wrap="square" rtlCol="0" anchor="ctr"/>
          <a:lstStyle/>
          <a:p>
            <a:pPr algn="ctr" indent="0" marL="0">
              <a:buNone/>
            </a:pPr>
            <a:r>
              <a:rPr lang="en-US" sz="1300" b="1" dirty="0">
                <a:solidFill>
                  <a:srgbClr val="085041"/>
                </a:solidFill>
                <a:latin typeface="Trebuchet MS" pitchFamily="34" charset="0"/>
                <a:ea typeface="Trebuchet MS" pitchFamily="34" charset="-122"/>
                <a:cs typeface="Trebuchet MS" pitchFamily="34" charset="-120"/>
              </a:rPr>
              <a:t>Home</a:t>
            </a:r>
            <a:endParaRPr lang="en-US" sz="1300" dirty="0"/>
          </a:p>
        </p:txBody>
      </p:sp>
      <p:sp>
        <p:nvSpPr>
          <p:cNvPr id="7" name="Text 5"/>
          <p:cNvSpPr/>
          <p:nvPr/>
        </p:nvSpPr>
        <p:spPr>
          <a:xfrm>
            <a:off x="502920" y="2423160"/>
            <a:ext cx="1463040" cy="1005840"/>
          </a:xfrm>
          <a:prstGeom prst="rect">
            <a:avLst/>
          </a:prstGeom>
          <a:noFill/>
          <a:ln/>
        </p:spPr>
        <p:txBody>
          <a:bodyPr wrap="square" rtlCol="0" anchor="ctr"/>
          <a:lstStyle/>
          <a:p>
            <a:pPr algn="ctr" indent="0" marL="0">
              <a:buNone/>
            </a:pPr>
            <a:r>
              <a:rPr lang="en-US" sz="1100" dirty="0">
                <a:solidFill>
                  <a:srgbClr val="444441"/>
                </a:solidFill>
                <a:latin typeface="Calibri" pitchFamily="34" charset="0"/>
                <a:ea typeface="Calibri" pitchFamily="34" charset="-122"/>
                <a:cs typeface="Calibri" pitchFamily="34" charset="-120"/>
              </a:rPr>
              <a:t>Your mission, warmth, and first impression</a:t>
            </a:r>
            <a:endParaRPr lang="en-US" sz="1100" dirty="0"/>
          </a:p>
        </p:txBody>
      </p:sp>
      <p:sp>
        <p:nvSpPr>
          <p:cNvPr id="8" name="Shape 6"/>
          <p:cNvSpPr/>
          <p:nvPr/>
        </p:nvSpPr>
        <p:spPr>
          <a:xfrm>
            <a:off x="2148840" y="1920240"/>
            <a:ext cx="1554480" cy="1645920"/>
          </a:xfrm>
          <a:prstGeom prst="rect">
            <a:avLst/>
          </a:prstGeom>
          <a:solidFill>
            <a:srgbClr val="E1F5EE"/>
          </a:solidFill>
          <a:ln w="12700">
            <a:solidFill>
              <a:srgbClr val="1D9E75"/>
            </a:solidFill>
            <a:prstDash val="solid"/>
          </a:ln>
        </p:spPr>
      </p:sp>
      <p:sp>
        <p:nvSpPr>
          <p:cNvPr id="9" name="Text 7"/>
          <p:cNvSpPr/>
          <p:nvPr/>
        </p:nvSpPr>
        <p:spPr>
          <a:xfrm>
            <a:off x="2194560" y="1993392"/>
            <a:ext cx="1463040" cy="411480"/>
          </a:xfrm>
          <a:prstGeom prst="rect">
            <a:avLst/>
          </a:prstGeom>
          <a:noFill/>
          <a:ln/>
        </p:spPr>
        <p:txBody>
          <a:bodyPr wrap="square" rtlCol="0" anchor="ctr"/>
          <a:lstStyle/>
          <a:p>
            <a:pPr algn="ctr" indent="0" marL="0">
              <a:buNone/>
            </a:pPr>
            <a:r>
              <a:rPr lang="en-US" sz="1300" b="1" dirty="0">
                <a:solidFill>
                  <a:srgbClr val="085041"/>
                </a:solidFill>
                <a:latin typeface="Trebuchet MS" pitchFamily="34" charset="0"/>
                <a:ea typeface="Trebuchet MS" pitchFamily="34" charset="-122"/>
                <a:cs typeface="Trebuchet MS" pitchFamily="34" charset="-120"/>
              </a:rPr>
              <a:t>About</a:t>
            </a:r>
            <a:endParaRPr lang="en-US" sz="1300" dirty="0"/>
          </a:p>
        </p:txBody>
      </p:sp>
      <p:sp>
        <p:nvSpPr>
          <p:cNvPr id="10" name="Text 8"/>
          <p:cNvSpPr/>
          <p:nvPr/>
        </p:nvSpPr>
        <p:spPr>
          <a:xfrm>
            <a:off x="2194560" y="2423160"/>
            <a:ext cx="1463040" cy="1005840"/>
          </a:xfrm>
          <a:prstGeom prst="rect">
            <a:avLst/>
          </a:prstGeom>
          <a:noFill/>
          <a:ln/>
        </p:spPr>
        <p:txBody>
          <a:bodyPr wrap="square" rtlCol="0" anchor="ctr"/>
          <a:lstStyle/>
          <a:p>
            <a:pPr algn="ctr" indent="0" marL="0">
              <a:buNone/>
            </a:pPr>
            <a:r>
              <a:rPr lang="en-US" sz="1100" dirty="0">
                <a:solidFill>
                  <a:srgbClr val="444441"/>
                </a:solidFill>
                <a:latin typeface="Calibri" pitchFamily="34" charset="0"/>
                <a:ea typeface="Calibri" pitchFamily="34" charset="-122"/>
                <a:cs typeface="Calibri" pitchFamily="34" charset="-120"/>
              </a:rPr>
              <a:t>Your story, your team, your philosophy</a:t>
            </a:r>
            <a:endParaRPr lang="en-US" sz="1100" dirty="0"/>
          </a:p>
        </p:txBody>
      </p:sp>
      <p:sp>
        <p:nvSpPr>
          <p:cNvPr id="11" name="Shape 9"/>
          <p:cNvSpPr/>
          <p:nvPr/>
        </p:nvSpPr>
        <p:spPr>
          <a:xfrm>
            <a:off x="3840480" y="1920240"/>
            <a:ext cx="1554480" cy="1645920"/>
          </a:xfrm>
          <a:prstGeom prst="rect">
            <a:avLst/>
          </a:prstGeom>
          <a:solidFill>
            <a:srgbClr val="E1F5EE"/>
          </a:solidFill>
          <a:ln w="12700">
            <a:solidFill>
              <a:srgbClr val="1D9E75"/>
            </a:solidFill>
            <a:prstDash val="solid"/>
          </a:ln>
        </p:spPr>
      </p:sp>
      <p:sp>
        <p:nvSpPr>
          <p:cNvPr id="12" name="Text 10"/>
          <p:cNvSpPr/>
          <p:nvPr/>
        </p:nvSpPr>
        <p:spPr>
          <a:xfrm>
            <a:off x="3886200" y="1993392"/>
            <a:ext cx="1463040" cy="411480"/>
          </a:xfrm>
          <a:prstGeom prst="rect">
            <a:avLst/>
          </a:prstGeom>
          <a:noFill/>
          <a:ln/>
        </p:spPr>
        <p:txBody>
          <a:bodyPr wrap="square" rtlCol="0" anchor="ctr"/>
          <a:lstStyle/>
          <a:p>
            <a:pPr algn="ctr" indent="0" marL="0">
              <a:buNone/>
            </a:pPr>
            <a:r>
              <a:rPr lang="en-US" sz="1300" b="1" dirty="0">
                <a:solidFill>
                  <a:srgbClr val="085041"/>
                </a:solidFill>
                <a:latin typeface="Trebuchet MS" pitchFamily="34" charset="0"/>
                <a:ea typeface="Trebuchet MS" pitchFamily="34" charset="-122"/>
                <a:cs typeface="Trebuchet MS" pitchFamily="34" charset="-120"/>
              </a:rPr>
              <a:t>Programs</a:t>
            </a:r>
            <a:endParaRPr lang="en-US" sz="1300" dirty="0"/>
          </a:p>
        </p:txBody>
      </p:sp>
      <p:sp>
        <p:nvSpPr>
          <p:cNvPr id="13" name="Text 11"/>
          <p:cNvSpPr/>
          <p:nvPr/>
        </p:nvSpPr>
        <p:spPr>
          <a:xfrm>
            <a:off x="3886200" y="2423160"/>
            <a:ext cx="1463040" cy="1005840"/>
          </a:xfrm>
          <a:prstGeom prst="rect">
            <a:avLst/>
          </a:prstGeom>
          <a:noFill/>
          <a:ln/>
        </p:spPr>
        <p:txBody>
          <a:bodyPr wrap="square" rtlCol="0" anchor="ctr"/>
          <a:lstStyle/>
          <a:p>
            <a:pPr algn="ctr" indent="0" marL="0">
              <a:buNone/>
            </a:pPr>
            <a:r>
              <a:rPr lang="en-US" sz="1100" dirty="0">
                <a:solidFill>
                  <a:srgbClr val="444441"/>
                </a:solidFill>
                <a:latin typeface="Calibri" pitchFamily="34" charset="0"/>
                <a:ea typeface="Calibri" pitchFamily="34" charset="-122"/>
                <a:cs typeface="Calibri" pitchFamily="34" charset="-120"/>
              </a:rPr>
              <a:t>Ages, curriculum, hours, tuition overview</a:t>
            </a:r>
            <a:endParaRPr lang="en-US" sz="1100" dirty="0"/>
          </a:p>
        </p:txBody>
      </p:sp>
      <p:sp>
        <p:nvSpPr>
          <p:cNvPr id="14" name="Shape 12"/>
          <p:cNvSpPr/>
          <p:nvPr/>
        </p:nvSpPr>
        <p:spPr>
          <a:xfrm>
            <a:off x="5532120" y="1920240"/>
            <a:ext cx="1554480" cy="1645920"/>
          </a:xfrm>
          <a:prstGeom prst="rect">
            <a:avLst/>
          </a:prstGeom>
          <a:solidFill>
            <a:srgbClr val="E1F5EE"/>
          </a:solidFill>
          <a:ln w="12700">
            <a:solidFill>
              <a:srgbClr val="1D9E75"/>
            </a:solidFill>
            <a:prstDash val="solid"/>
          </a:ln>
        </p:spPr>
      </p:sp>
      <p:sp>
        <p:nvSpPr>
          <p:cNvPr id="15" name="Text 13"/>
          <p:cNvSpPr/>
          <p:nvPr/>
        </p:nvSpPr>
        <p:spPr>
          <a:xfrm>
            <a:off x="5577840" y="1993392"/>
            <a:ext cx="1463040" cy="411480"/>
          </a:xfrm>
          <a:prstGeom prst="rect">
            <a:avLst/>
          </a:prstGeom>
          <a:noFill/>
          <a:ln/>
        </p:spPr>
        <p:txBody>
          <a:bodyPr wrap="square" rtlCol="0" anchor="ctr"/>
          <a:lstStyle/>
          <a:p>
            <a:pPr algn="ctr" indent="0" marL="0">
              <a:buNone/>
            </a:pPr>
            <a:r>
              <a:rPr lang="en-US" sz="1300" b="1" dirty="0">
                <a:solidFill>
                  <a:srgbClr val="085041"/>
                </a:solidFill>
                <a:latin typeface="Trebuchet MS" pitchFamily="34" charset="0"/>
                <a:ea typeface="Trebuchet MS" pitchFamily="34" charset="-122"/>
                <a:cs typeface="Trebuchet MS" pitchFamily="34" charset="-120"/>
              </a:rPr>
              <a:t>Enrollment</a:t>
            </a:r>
            <a:endParaRPr lang="en-US" sz="1300" dirty="0"/>
          </a:p>
        </p:txBody>
      </p:sp>
      <p:sp>
        <p:nvSpPr>
          <p:cNvPr id="16" name="Text 14"/>
          <p:cNvSpPr/>
          <p:nvPr/>
        </p:nvSpPr>
        <p:spPr>
          <a:xfrm>
            <a:off x="5577840" y="2423160"/>
            <a:ext cx="1463040" cy="1005840"/>
          </a:xfrm>
          <a:prstGeom prst="rect">
            <a:avLst/>
          </a:prstGeom>
          <a:noFill/>
          <a:ln/>
        </p:spPr>
        <p:txBody>
          <a:bodyPr wrap="square" rtlCol="0" anchor="ctr"/>
          <a:lstStyle/>
          <a:p>
            <a:pPr algn="ctr" indent="0" marL="0">
              <a:buNone/>
            </a:pPr>
            <a:r>
              <a:rPr lang="en-US" sz="1100" dirty="0">
                <a:solidFill>
                  <a:srgbClr val="444441"/>
                </a:solidFill>
                <a:latin typeface="Calibri" pitchFamily="34" charset="0"/>
                <a:ea typeface="Calibri" pitchFamily="34" charset="-122"/>
                <a:cs typeface="Calibri" pitchFamily="34" charset="-120"/>
              </a:rPr>
              <a:t>How to apply, waitlist, contact form</a:t>
            </a:r>
            <a:endParaRPr lang="en-US" sz="1100" dirty="0"/>
          </a:p>
        </p:txBody>
      </p:sp>
      <p:sp>
        <p:nvSpPr>
          <p:cNvPr id="17" name="Shape 15"/>
          <p:cNvSpPr/>
          <p:nvPr/>
        </p:nvSpPr>
        <p:spPr>
          <a:xfrm>
            <a:off x="7223760" y="1920240"/>
            <a:ext cx="1554480" cy="1645920"/>
          </a:xfrm>
          <a:prstGeom prst="rect">
            <a:avLst/>
          </a:prstGeom>
          <a:solidFill>
            <a:srgbClr val="E1F5EE"/>
          </a:solidFill>
          <a:ln w="12700">
            <a:solidFill>
              <a:srgbClr val="1D9E75"/>
            </a:solidFill>
            <a:prstDash val="solid"/>
          </a:ln>
        </p:spPr>
      </p:sp>
      <p:sp>
        <p:nvSpPr>
          <p:cNvPr id="18" name="Text 16"/>
          <p:cNvSpPr/>
          <p:nvPr/>
        </p:nvSpPr>
        <p:spPr>
          <a:xfrm>
            <a:off x="7269480" y="1993392"/>
            <a:ext cx="1463040" cy="411480"/>
          </a:xfrm>
          <a:prstGeom prst="rect">
            <a:avLst/>
          </a:prstGeom>
          <a:noFill/>
          <a:ln/>
        </p:spPr>
        <p:txBody>
          <a:bodyPr wrap="square" rtlCol="0" anchor="ctr"/>
          <a:lstStyle/>
          <a:p>
            <a:pPr algn="ctr" indent="0" marL="0">
              <a:buNone/>
            </a:pPr>
            <a:r>
              <a:rPr lang="en-US" sz="1300" b="1" dirty="0">
                <a:solidFill>
                  <a:srgbClr val="085041"/>
                </a:solidFill>
                <a:latin typeface="Trebuchet MS" pitchFamily="34" charset="0"/>
                <a:ea typeface="Trebuchet MS" pitchFamily="34" charset="-122"/>
                <a:cs typeface="Trebuchet MS" pitchFamily="34" charset="-120"/>
              </a:rPr>
              <a:t>NearBase Profile</a:t>
            </a:r>
            <a:endParaRPr lang="en-US" sz="1300" dirty="0"/>
          </a:p>
        </p:txBody>
      </p:sp>
      <p:sp>
        <p:nvSpPr>
          <p:cNvPr id="19" name="Text 17"/>
          <p:cNvSpPr/>
          <p:nvPr/>
        </p:nvSpPr>
        <p:spPr>
          <a:xfrm>
            <a:off x="7269480" y="2423160"/>
            <a:ext cx="1463040" cy="1005840"/>
          </a:xfrm>
          <a:prstGeom prst="rect">
            <a:avLst/>
          </a:prstGeom>
          <a:noFill/>
          <a:ln/>
        </p:spPr>
        <p:txBody>
          <a:bodyPr wrap="square" rtlCol="0" anchor="ctr"/>
          <a:lstStyle/>
          <a:p>
            <a:pPr algn="ctr" indent="0" marL="0">
              <a:buNone/>
            </a:pPr>
            <a:r>
              <a:rPr lang="en-US" sz="1100" dirty="0">
                <a:solidFill>
                  <a:srgbClr val="444441"/>
                </a:solidFill>
                <a:latin typeface="Calibri" pitchFamily="34" charset="0"/>
                <a:ea typeface="Calibri" pitchFamily="34" charset="-122"/>
                <a:cs typeface="Calibri" pitchFamily="34" charset="-120"/>
              </a:rPr>
              <a:t>Linked to live family search results</a:t>
            </a:r>
            <a:endParaRPr lang="en-US" sz="1100" dirty="0"/>
          </a:p>
        </p:txBody>
      </p:sp>
      <p:sp>
        <p:nvSpPr>
          <p:cNvPr id="20" name="Text 18"/>
          <p:cNvSpPr/>
          <p:nvPr/>
        </p:nvSpPr>
        <p:spPr>
          <a:xfrm>
            <a:off x="457200" y="3657600"/>
            <a:ext cx="8229600" cy="411480"/>
          </a:xfrm>
          <a:prstGeom prst="rect">
            <a:avLst/>
          </a:prstGeom>
          <a:noFill/>
          <a:ln/>
        </p:spPr>
        <p:txBody>
          <a:bodyPr wrap="square"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What a freelancer charges: $1,500 – $8,000 (one-time)    |    What NearBase charges: $149/mo — includes website + listing + maintenance</a:t>
            </a:r>
            <a:endParaRPr lang="en-US" sz="1200" dirty="0"/>
          </a:p>
        </p:txBody>
      </p:sp>
      <p:sp>
        <p:nvSpPr>
          <p:cNvPr id="21" name="Shape 19"/>
          <p:cNvSpPr/>
          <p:nvPr/>
        </p:nvSpPr>
        <p:spPr>
          <a:xfrm>
            <a:off x="457200" y="4160520"/>
            <a:ext cx="8229600" cy="731520"/>
          </a:xfrm>
          <a:prstGeom prst="rect">
            <a:avLst/>
          </a:prstGeom>
          <a:solidFill>
            <a:srgbClr val="085041"/>
          </a:solidFill>
          <a:ln/>
        </p:spPr>
      </p:sp>
      <p:sp>
        <p:nvSpPr>
          <p:cNvPr id="22" name="Text 20"/>
          <p:cNvSpPr/>
          <p:nvPr/>
        </p:nvSpPr>
        <p:spPr>
          <a:xfrm>
            <a:off x="457200" y="4251960"/>
            <a:ext cx="8229600" cy="548640"/>
          </a:xfrm>
          <a:prstGeom prst="rect">
            <a:avLst/>
          </a:prstGeom>
          <a:noFill/>
          <a:ln/>
        </p:spPr>
        <p:txBody>
          <a:bodyPr wrap="square" rtlCol="0" anchor="ctr"/>
          <a:lstStyle/>
          <a:p>
            <a:pPr algn="ctr" indent="0" marL="0">
              <a:buNone/>
            </a:pPr>
            <a:r>
              <a:rPr lang="en-US" sz="1400" i="1" dirty="0">
                <a:solidFill>
                  <a:srgbClr val="1D9E75"/>
                </a:solidFill>
                <a:latin typeface="Calibri" pitchFamily="34" charset="0"/>
                <a:ea typeface="Calibri" pitchFamily="34" charset="-122"/>
                <a:cs typeface="Calibri" pitchFamily="34" charset="-120"/>
              </a:rPr>
              <a:t>The site is yours. If you ever leave NearBase, you keep the website.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D9E75"/>
          </a:solidFill>
          <a:ln/>
        </p:spPr>
      </p:sp>
      <p:sp>
        <p:nvSpPr>
          <p:cNvPr id="3" name="Text 1"/>
          <p:cNvSpPr/>
          <p:nvPr/>
        </p:nvSpPr>
        <p:spPr>
          <a:xfrm>
            <a:off x="457200" y="137160"/>
            <a:ext cx="8229600" cy="731520"/>
          </a:xfrm>
          <a:prstGeom prst="rect">
            <a:avLst/>
          </a:prstGeom>
          <a:noFill/>
          <a:ln/>
        </p:spPr>
        <p:txBody>
          <a:bodyPr wrap="square" rtlCol="0" anchor="ctr"/>
          <a:lstStyle/>
          <a:p>
            <a:pPr algn="l" indent="0" marL="0">
              <a:buNone/>
            </a:pPr>
            <a:r>
              <a:rPr lang="en-US" sz="2200" b="1" dirty="0">
                <a:solidFill>
                  <a:srgbClr val="FFFFFF"/>
                </a:solidFill>
                <a:latin typeface="Trebuchet MS" pitchFamily="34" charset="0"/>
                <a:ea typeface="Trebuchet MS" pitchFamily="34" charset="-122"/>
                <a:cs typeface="Trebuchet MS" pitchFamily="34" charset="-120"/>
              </a:rPr>
              <a:t>Built by someone who knows these schools from the inside</a:t>
            </a:r>
            <a:endParaRPr lang="en-US" sz="2200" dirty="0"/>
          </a:p>
        </p:txBody>
      </p:sp>
      <p:sp>
        <p:nvSpPr>
          <p:cNvPr id="4" name="Shape 2"/>
          <p:cNvSpPr/>
          <p:nvPr/>
        </p:nvSpPr>
        <p:spPr>
          <a:xfrm>
            <a:off x="365760" y="1097280"/>
            <a:ext cx="3474720" cy="3657600"/>
          </a:xfrm>
          <a:prstGeom prst="rect">
            <a:avLst/>
          </a:prstGeom>
          <a:solidFill>
            <a:srgbClr val="085041"/>
          </a:solidFill>
          <a:ln/>
        </p:spPr>
      </p:sp>
      <p:sp>
        <p:nvSpPr>
          <p:cNvPr id="5" name="Shape 3"/>
          <p:cNvSpPr/>
          <p:nvPr/>
        </p:nvSpPr>
        <p:spPr>
          <a:xfrm>
            <a:off x="1188720" y="1280160"/>
            <a:ext cx="1828800" cy="1828800"/>
          </a:xfrm>
          <a:prstGeom prst="ellipse">
            <a:avLst/>
          </a:prstGeom>
          <a:solidFill>
            <a:srgbClr val="1D9E75"/>
          </a:solidFill>
          <a:ln/>
        </p:spPr>
      </p:sp>
      <p:sp>
        <p:nvSpPr>
          <p:cNvPr id="6" name="Text 4"/>
          <p:cNvSpPr/>
          <p:nvPr/>
        </p:nvSpPr>
        <p:spPr>
          <a:xfrm>
            <a:off x="1188720" y="1554480"/>
            <a:ext cx="1828800" cy="1188720"/>
          </a:xfrm>
          <a:prstGeom prst="rect">
            <a:avLst/>
          </a:prstGeom>
          <a:noFill/>
          <a:ln/>
        </p:spPr>
        <p:txBody>
          <a:bodyPr wrap="square" rtlCol="0" anchor="ctr"/>
          <a:lstStyle/>
          <a:p>
            <a:pPr algn="ctr" indent="0" marL="0">
              <a:buNone/>
            </a:pPr>
            <a:r>
              <a:rPr lang="en-US" sz="4200" b="1" dirty="0">
                <a:solidFill>
                  <a:srgbClr val="FFFFFF"/>
                </a:solidFill>
                <a:latin typeface="Trebuchet MS" pitchFamily="34" charset="0"/>
                <a:ea typeface="Trebuchet MS" pitchFamily="34" charset="-122"/>
                <a:cs typeface="Trebuchet MS" pitchFamily="34" charset="-120"/>
              </a:rPr>
              <a:t>KB</a:t>
            </a:r>
            <a:endParaRPr lang="en-US" sz="4200" dirty="0"/>
          </a:p>
        </p:txBody>
      </p:sp>
      <p:sp>
        <p:nvSpPr>
          <p:cNvPr id="7" name="Text 5"/>
          <p:cNvSpPr/>
          <p:nvPr/>
        </p:nvSpPr>
        <p:spPr>
          <a:xfrm>
            <a:off x="457200" y="3200400"/>
            <a:ext cx="329184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Kelly Brown</a:t>
            </a:r>
            <a:endParaRPr lang="en-US" sz="1800" dirty="0"/>
          </a:p>
        </p:txBody>
      </p:sp>
      <p:sp>
        <p:nvSpPr>
          <p:cNvPr id="8" name="Text 6"/>
          <p:cNvSpPr/>
          <p:nvPr/>
        </p:nvSpPr>
        <p:spPr>
          <a:xfrm>
            <a:off x="457200" y="3611880"/>
            <a:ext cx="3291840" cy="320040"/>
          </a:xfrm>
          <a:prstGeom prst="rect">
            <a:avLst/>
          </a:prstGeom>
          <a:noFill/>
          <a:ln/>
        </p:spPr>
        <p:txBody>
          <a:bodyPr wrap="square" rtlCol="0" anchor="ctr"/>
          <a:lstStyle/>
          <a:p>
            <a:pPr algn="ctr" indent="0" marL="0">
              <a:buNone/>
            </a:pPr>
            <a:r>
              <a:rPr lang="en-US" sz="1300" dirty="0">
                <a:solidFill>
                  <a:srgbClr val="1D9E75"/>
                </a:solidFill>
                <a:latin typeface="Calibri" pitchFamily="34" charset="0"/>
                <a:ea typeface="Calibri" pitchFamily="34" charset="-122"/>
                <a:cs typeface="Calibri" pitchFamily="34" charset="-120"/>
              </a:rPr>
              <a:t>Founder, NearBase</a:t>
            </a:r>
            <a:endParaRPr lang="en-US" sz="1300" dirty="0"/>
          </a:p>
        </p:txBody>
      </p:sp>
      <p:sp>
        <p:nvSpPr>
          <p:cNvPr id="9" name="Text 7"/>
          <p:cNvSpPr/>
          <p:nvPr/>
        </p:nvSpPr>
        <p:spPr>
          <a:xfrm>
            <a:off x="457200" y="3977640"/>
            <a:ext cx="3291840" cy="640080"/>
          </a:xfrm>
          <a:prstGeom prst="rect">
            <a:avLst/>
          </a:prstGeom>
          <a:noFill/>
          <a:ln/>
        </p:spPr>
        <p:txBody>
          <a:bodyPr wrap="square" rtlCol="0" anchor="ctr"/>
          <a:lstStyle/>
          <a:p>
            <a:pPr algn="ctr" indent="0" marL="0">
              <a:buNone/>
            </a:pPr>
            <a:r>
              <a:rPr lang="en-US" sz="1200" dirty="0">
                <a:solidFill>
                  <a:srgbClr val="9FE1CB"/>
                </a:solidFill>
                <a:latin typeface="Calibri" pitchFamily="34" charset="0"/>
                <a:ea typeface="Calibri" pitchFamily="34" charset="-122"/>
                <a:cs typeface="Calibri" pitchFamily="34" charset="-120"/>
              </a:rPr>
              <a:t>kelly@nearbase.net</a:t>
            </a:r>
            <a:endParaRPr lang="en-US" sz="1200" dirty="0"/>
          </a:p>
          <a:p>
            <a:pPr algn="ctr" indent="0" marL="0">
              <a:buNone/>
            </a:pPr>
            <a:r>
              <a:rPr lang="en-US" sz="1200" dirty="0">
                <a:solidFill>
                  <a:srgbClr val="9FE1CB"/>
                </a:solidFill>
                <a:latin typeface="Calibri" pitchFamily="34" charset="0"/>
                <a:ea typeface="Calibri" pitchFamily="34" charset="-122"/>
                <a:cs typeface="Calibri" pitchFamily="34" charset="-120"/>
              </a:rPr>
              <a:t>nearbase.net</a:t>
            </a:r>
            <a:endParaRPr lang="en-US" sz="1200" dirty="0"/>
          </a:p>
        </p:txBody>
      </p:sp>
      <p:sp>
        <p:nvSpPr>
          <p:cNvPr id="10" name="Shape 8"/>
          <p:cNvSpPr/>
          <p:nvPr/>
        </p:nvSpPr>
        <p:spPr>
          <a:xfrm>
            <a:off x="4023360" y="1097280"/>
            <a:ext cx="73152" cy="685800"/>
          </a:xfrm>
          <a:prstGeom prst="rect">
            <a:avLst/>
          </a:prstGeom>
          <a:solidFill>
            <a:srgbClr val="1D9E75"/>
          </a:solidFill>
          <a:ln/>
        </p:spPr>
      </p:sp>
      <p:sp>
        <p:nvSpPr>
          <p:cNvPr id="11" name="Text 9"/>
          <p:cNvSpPr/>
          <p:nvPr/>
        </p:nvSpPr>
        <p:spPr>
          <a:xfrm>
            <a:off x="4206240" y="1115568"/>
            <a:ext cx="4572000" cy="685800"/>
          </a:xfrm>
          <a:prstGeom prst="rect">
            <a:avLst/>
          </a:prstGeom>
          <a:noFill/>
          <a:ln/>
        </p:spPr>
        <p:txBody>
          <a:bodyPr wrap="square" rtlCol="0" anchor="ctr"/>
          <a:lstStyle/>
          <a:p>
            <a:pPr algn="l" indent="0" marL="0">
              <a:buNone/>
            </a:pPr>
            <a:r>
              <a:rPr lang="en-US" sz="1200" dirty="0">
                <a:solidFill>
                  <a:srgbClr val="444441"/>
                </a:solidFill>
                <a:latin typeface="Calibri" pitchFamily="34" charset="0"/>
                <a:ea typeface="Calibri" pitchFamily="34" charset="-122"/>
                <a:cs typeface="Calibri" pitchFamily="34" charset="-120"/>
              </a:rPr>
              <a:t>Former classroom teacher with direct experience inside Montessori programs, DCPS preschools, public charters, and independent schools across the NCR.</a:t>
            </a:r>
            <a:endParaRPr lang="en-US" sz="1200" dirty="0"/>
          </a:p>
        </p:txBody>
      </p:sp>
      <p:sp>
        <p:nvSpPr>
          <p:cNvPr id="12" name="Shape 10"/>
          <p:cNvSpPr/>
          <p:nvPr/>
        </p:nvSpPr>
        <p:spPr>
          <a:xfrm>
            <a:off x="4023360" y="1947672"/>
            <a:ext cx="73152" cy="685800"/>
          </a:xfrm>
          <a:prstGeom prst="rect">
            <a:avLst/>
          </a:prstGeom>
          <a:solidFill>
            <a:srgbClr val="1D9E75"/>
          </a:solidFill>
          <a:ln/>
        </p:spPr>
      </p:sp>
      <p:sp>
        <p:nvSpPr>
          <p:cNvPr id="13" name="Text 11"/>
          <p:cNvSpPr/>
          <p:nvPr/>
        </p:nvSpPr>
        <p:spPr>
          <a:xfrm>
            <a:off x="4206240" y="1965960"/>
            <a:ext cx="4572000" cy="685800"/>
          </a:xfrm>
          <a:prstGeom prst="rect">
            <a:avLst/>
          </a:prstGeom>
          <a:noFill/>
          <a:ln/>
        </p:spPr>
        <p:txBody>
          <a:bodyPr wrap="square" rtlCol="0" anchor="ctr"/>
          <a:lstStyle/>
          <a:p>
            <a:pPr algn="l" indent="0" marL="0">
              <a:buNone/>
            </a:pPr>
            <a:r>
              <a:rPr lang="en-US" sz="1200" dirty="0">
                <a:solidFill>
                  <a:srgbClr val="444441"/>
                </a:solidFill>
                <a:latin typeface="Calibri" pitchFamily="34" charset="0"/>
                <a:ea typeface="Calibri" pitchFamily="34" charset="-122"/>
                <a:cs typeface="Calibri" pitchFamily="34" charset="-120"/>
              </a:rPr>
              <a:t>Military spouse who lived the PCS preschool search firsthand — and knows what families actually need.</a:t>
            </a:r>
            <a:endParaRPr lang="en-US" sz="1200" dirty="0"/>
          </a:p>
        </p:txBody>
      </p:sp>
      <p:sp>
        <p:nvSpPr>
          <p:cNvPr id="14" name="Shape 12"/>
          <p:cNvSpPr/>
          <p:nvPr/>
        </p:nvSpPr>
        <p:spPr>
          <a:xfrm>
            <a:off x="4023360" y="2798064"/>
            <a:ext cx="73152" cy="685800"/>
          </a:xfrm>
          <a:prstGeom prst="rect">
            <a:avLst/>
          </a:prstGeom>
          <a:solidFill>
            <a:srgbClr val="1D9E75"/>
          </a:solidFill>
          <a:ln/>
        </p:spPr>
      </p:sp>
      <p:sp>
        <p:nvSpPr>
          <p:cNvPr id="15" name="Text 13"/>
          <p:cNvSpPr/>
          <p:nvPr/>
        </p:nvSpPr>
        <p:spPr>
          <a:xfrm>
            <a:off x="4206240" y="2816352"/>
            <a:ext cx="4572000" cy="685800"/>
          </a:xfrm>
          <a:prstGeom prst="rect">
            <a:avLst/>
          </a:prstGeom>
          <a:noFill/>
          <a:ln/>
        </p:spPr>
        <p:txBody>
          <a:bodyPr wrap="square" rtlCol="0" anchor="ctr"/>
          <a:lstStyle/>
          <a:p>
            <a:pPr algn="l" indent="0" marL="0">
              <a:buNone/>
            </a:pPr>
            <a:r>
              <a:rPr lang="en-US" sz="1200" dirty="0">
                <a:solidFill>
                  <a:srgbClr val="444441"/>
                </a:solidFill>
                <a:latin typeface="Calibri" pitchFamily="34" charset="0"/>
                <a:ea typeface="Calibri" pitchFamily="34" charset="-122"/>
                <a:cs typeface="Calibri" pitchFamily="34" charset="-120"/>
              </a:rPr>
              <a:t>NearBase was built because extraordinary schools like yours are invisible to families who need them most.</a:t>
            </a:r>
            <a:endParaRPr lang="en-US" sz="1200" dirty="0"/>
          </a:p>
        </p:txBody>
      </p:sp>
      <p:sp>
        <p:nvSpPr>
          <p:cNvPr id="16" name="Shape 14"/>
          <p:cNvSpPr/>
          <p:nvPr/>
        </p:nvSpPr>
        <p:spPr>
          <a:xfrm>
            <a:off x="4023360" y="3648456"/>
            <a:ext cx="73152" cy="685800"/>
          </a:xfrm>
          <a:prstGeom prst="rect">
            <a:avLst/>
          </a:prstGeom>
          <a:solidFill>
            <a:srgbClr val="1D9E75"/>
          </a:solidFill>
          <a:ln/>
        </p:spPr>
      </p:sp>
      <p:sp>
        <p:nvSpPr>
          <p:cNvPr id="17" name="Text 15"/>
          <p:cNvSpPr/>
          <p:nvPr/>
        </p:nvSpPr>
        <p:spPr>
          <a:xfrm>
            <a:off x="4206240" y="3666744"/>
            <a:ext cx="4572000" cy="685800"/>
          </a:xfrm>
          <a:prstGeom prst="rect">
            <a:avLst/>
          </a:prstGeom>
          <a:noFill/>
          <a:ln/>
        </p:spPr>
        <p:txBody>
          <a:bodyPr wrap="square" rtlCol="0" anchor="ctr"/>
          <a:lstStyle/>
          <a:p>
            <a:pPr algn="l" indent="0" marL="0">
              <a:buNone/>
            </a:pPr>
            <a:r>
              <a:rPr lang="en-US" sz="1200" dirty="0">
                <a:solidFill>
                  <a:srgbClr val="444441"/>
                </a:solidFill>
                <a:latin typeface="Calibri" pitchFamily="34" charset="0"/>
                <a:ea typeface="Calibri" pitchFamily="34" charset="-122"/>
                <a:cs typeface="Calibri" pitchFamily="34" charset="-120"/>
              </a:rPr>
              <a:t>Current NCR database: 38 verified schools. Expanding to 500+ across all 9 NCR sub-zones.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5041"/>
        </a:solidFill>
      </p:bgPr>
    </p:bg>
    <p:spTree>
      <p:nvGrpSpPr>
        <p:cNvPr id="1" name=""/>
        <p:cNvGrpSpPr/>
        <p:nvPr/>
      </p:nvGrpSpPr>
      <p:grpSpPr>
        <a:xfrm>
          <a:off x="0" y="0"/>
          <a:ext cx="0" cy="0"/>
          <a:chOff x="0" y="0"/>
          <a:chExt cx="0" cy="0"/>
        </a:xfrm>
      </p:grpSpPr>
      <p:sp>
        <p:nvSpPr>
          <p:cNvPr id="2" name="Text 0"/>
          <p:cNvSpPr/>
          <p:nvPr/>
        </p:nvSpPr>
        <p:spPr>
          <a:xfrm>
            <a:off x="548640" y="640080"/>
            <a:ext cx="8046720" cy="914400"/>
          </a:xfrm>
          <a:prstGeom prst="rect">
            <a:avLst/>
          </a:prstGeom>
          <a:noFill/>
          <a:ln/>
        </p:spPr>
        <p:txBody>
          <a:bodyPr wrap="square" rtlCol="0" anchor="ctr"/>
          <a:lstStyle/>
          <a:p>
            <a:pPr algn="l" indent="0" marL="0">
              <a:buNone/>
            </a:pPr>
            <a:r>
              <a:rPr lang="en-US" sz="3600" b="1" dirty="0">
                <a:solidFill>
                  <a:srgbClr val="FFFFFF"/>
                </a:solidFill>
                <a:latin typeface="Trebuchet MS" pitchFamily="34" charset="0"/>
                <a:ea typeface="Trebuchet MS" pitchFamily="34" charset="-122"/>
                <a:cs typeface="Trebuchet MS" pitchFamily="34" charset="-120"/>
              </a:rPr>
              <a:t>Let's get your school on the map.</a:t>
            </a:r>
            <a:endParaRPr lang="en-US" sz="3600" dirty="0"/>
          </a:p>
        </p:txBody>
      </p:sp>
      <p:sp>
        <p:nvSpPr>
          <p:cNvPr id="3" name="Text 1"/>
          <p:cNvSpPr/>
          <p:nvPr/>
        </p:nvSpPr>
        <p:spPr>
          <a:xfrm>
            <a:off x="548640" y="1463040"/>
            <a:ext cx="8046720" cy="457200"/>
          </a:xfrm>
          <a:prstGeom prst="rect">
            <a:avLst/>
          </a:prstGeom>
          <a:noFill/>
          <a:ln/>
        </p:spPr>
        <p:txBody>
          <a:bodyPr wrap="square" rtlCol="0" anchor="ctr"/>
          <a:lstStyle/>
          <a:p>
            <a:pPr algn="l" indent="0" marL="0">
              <a:buNone/>
            </a:pPr>
            <a:r>
              <a:rPr lang="en-US" sz="1600" dirty="0">
                <a:solidFill>
                  <a:srgbClr val="9FE1CB"/>
                </a:solidFill>
                <a:latin typeface="Calibri" pitchFamily="34" charset="0"/>
                <a:ea typeface="Calibri" pitchFamily="34" charset="-122"/>
                <a:cs typeface="Calibri" pitchFamily="34" charset="-120"/>
              </a:rPr>
              <a:t>Here's how to get started this week:</a:t>
            </a:r>
            <a:endParaRPr lang="en-US" sz="1600" dirty="0"/>
          </a:p>
        </p:txBody>
      </p:sp>
      <p:sp>
        <p:nvSpPr>
          <p:cNvPr id="4" name="Shape 2"/>
          <p:cNvSpPr/>
          <p:nvPr/>
        </p:nvSpPr>
        <p:spPr>
          <a:xfrm>
            <a:off x="548640" y="2011680"/>
            <a:ext cx="502920" cy="502920"/>
          </a:xfrm>
          <a:prstGeom prst="ellipse">
            <a:avLst/>
          </a:prstGeom>
          <a:solidFill>
            <a:srgbClr val="1D9E75"/>
          </a:solidFill>
          <a:ln/>
        </p:spPr>
      </p:sp>
      <p:sp>
        <p:nvSpPr>
          <p:cNvPr id="5" name="Text 3"/>
          <p:cNvSpPr/>
          <p:nvPr/>
        </p:nvSpPr>
        <p:spPr>
          <a:xfrm>
            <a:off x="548640" y="2011680"/>
            <a:ext cx="502920" cy="50292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6" name="Text 4"/>
          <p:cNvSpPr/>
          <p:nvPr/>
        </p:nvSpPr>
        <p:spPr>
          <a:xfrm>
            <a:off x="1234440" y="2057400"/>
            <a:ext cx="7315200" cy="457200"/>
          </a:xfrm>
          <a:prstGeom prst="rect">
            <a:avLst/>
          </a:prstGeom>
          <a:noFill/>
          <a:ln/>
        </p:spPr>
        <p:txBody>
          <a:bodyPr wrap="square"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Reply to this email or call Kelly directly — kelly@nearbase.net</a:t>
            </a:r>
            <a:endParaRPr lang="en-US" sz="1500" dirty="0"/>
          </a:p>
        </p:txBody>
      </p:sp>
      <p:sp>
        <p:nvSpPr>
          <p:cNvPr id="7" name="Shape 5"/>
          <p:cNvSpPr/>
          <p:nvPr/>
        </p:nvSpPr>
        <p:spPr>
          <a:xfrm>
            <a:off x="548640" y="2697480"/>
            <a:ext cx="502920" cy="502920"/>
          </a:xfrm>
          <a:prstGeom prst="ellipse">
            <a:avLst/>
          </a:prstGeom>
          <a:solidFill>
            <a:srgbClr val="1D9E75"/>
          </a:solidFill>
          <a:ln/>
        </p:spPr>
      </p:sp>
      <p:sp>
        <p:nvSpPr>
          <p:cNvPr id="8" name="Text 6"/>
          <p:cNvSpPr/>
          <p:nvPr/>
        </p:nvSpPr>
        <p:spPr>
          <a:xfrm>
            <a:off x="548640" y="2697480"/>
            <a:ext cx="502920" cy="50292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9" name="Text 7"/>
          <p:cNvSpPr/>
          <p:nvPr/>
        </p:nvSpPr>
        <p:spPr>
          <a:xfrm>
            <a:off x="1234440" y="2743200"/>
            <a:ext cx="7315200" cy="457200"/>
          </a:xfrm>
          <a:prstGeom prst="rect">
            <a:avLst/>
          </a:prstGeom>
          <a:noFill/>
          <a:ln/>
        </p:spPr>
        <p:txBody>
          <a:bodyPr wrap="square"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We list your school for free as a founding partner for 60 days</a:t>
            </a:r>
            <a:endParaRPr lang="en-US" sz="1500" dirty="0"/>
          </a:p>
        </p:txBody>
      </p:sp>
      <p:sp>
        <p:nvSpPr>
          <p:cNvPr id="10" name="Shape 8"/>
          <p:cNvSpPr/>
          <p:nvPr/>
        </p:nvSpPr>
        <p:spPr>
          <a:xfrm>
            <a:off x="548640" y="3383280"/>
            <a:ext cx="502920" cy="502920"/>
          </a:xfrm>
          <a:prstGeom prst="ellipse">
            <a:avLst/>
          </a:prstGeom>
          <a:solidFill>
            <a:srgbClr val="1D9E75"/>
          </a:solidFill>
          <a:ln/>
        </p:spPr>
      </p:sp>
      <p:sp>
        <p:nvSpPr>
          <p:cNvPr id="11" name="Text 9"/>
          <p:cNvSpPr/>
          <p:nvPr/>
        </p:nvSpPr>
        <p:spPr>
          <a:xfrm>
            <a:off x="548640" y="3383280"/>
            <a:ext cx="502920" cy="50292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12" name="Text 10"/>
          <p:cNvSpPr/>
          <p:nvPr/>
        </p:nvSpPr>
        <p:spPr>
          <a:xfrm>
            <a:off x="1234440" y="3429000"/>
            <a:ext cx="7315200" cy="457200"/>
          </a:xfrm>
          <a:prstGeom prst="rect">
            <a:avLst/>
          </a:prstGeom>
          <a:noFill/>
          <a:ln/>
        </p:spPr>
        <p:txBody>
          <a:bodyPr wrap="square"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If you want a website, we build it within the week</a:t>
            </a:r>
            <a:endParaRPr lang="en-US" sz="1500" dirty="0"/>
          </a:p>
        </p:txBody>
      </p:sp>
      <p:sp>
        <p:nvSpPr>
          <p:cNvPr id="13" name="Shape 11"/>
          <p:cNvSpPr/>
          <p:nvPr/>
        </p:nvSpPr>
        <p:spPr>
          <a:xfrm>
            <a:off x="548640" y="4069080"/>
            <a:ext cx="502920" cy="502920"/>
          </a:xfrm>
          <a:prstGeom prst="ellipse">
            <a:avLst/>
          </a:prstGeom>
          <a:solidFill>
            <a:srgbClr val="1D9E75"/>
          </a:solidFill>
          <a:ln/>
        </p:spPr>
      </p:sp>
      <p:sp>
        <p:nvSpPr>
          <p:cNvPr id="14" name="Text 12"/>
          <p:cNvSpPr/>
          <p:nvPr/>
        </p:nvSpPr>
        <p:spPr>
          <a:xfrm>
            <a:off x="548640" y="4069080"/>
            <a:ext cx="502920" cy="50292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4</a:t>
            </a:r>
            <a:endParaRPr lang="en-US" sz="1800" dirty="0"/>
          </a:p>
        </p:txBody>
      </p:sp>
      <p:sp>
        <p:nvSpPr>
          <p:cNvPr id="15" name="Text 13"/>
          <p:cNvSpPr/>
          <p:nvPr/>
        </p:nvSpPr>
        <p:spPr>
          <a:xfrm>
            <a:off x="1234440" y="4114800"/>
            <a:ext cx="7315200" cy="457200"/>
          </a:xfrm>
          <a:prstGeom prst="rect">
            <a:avLst/>
          </a:prstGeom>
          <a:noFill/>
          <a:ln/>
        </p:spPr>
        <p:txBody>
          <a:bodyPr wrap="square"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Military families start finding you before the PCS season peaks</a:t>
            </a:r>
            <a:endParaRPr lang="en-US" sz="1500" dirty="0"/>
          </a:p>
        </p:txBody>
      </p:sp>
      <p:sp>
        <p:nvSpPr>
          <p:cNvPr id="16" name="Shape 14"/>
          <p:cNvSpPr/>
          <p:nvPr/>
        </p:nvSpPr>
        <p:spPr>
          <a:xfrm>
            <a:off x="548640" y="4572000"/>
            <a:ext cx="8046720" cy="411480"/>
          </a:xfrm>
          <a:prstGeom prst="rect">
            <a:avLst/>
          </a:prstGeom>
          <a:solidFill>
            <a:srgbClr val="1D9E75"/>
          </a:solidFill>
          <a:ln/>
        </p:spPr>
      </p:sp>
      <p:sp>
        <p:nvSpPr>
          <p:cNvPr id="17" name="Text 15"/>
          <p:cNvSpPr/>
          <p:nvPr/>
        </p:nvSpPr>
        <p:spPr>
          <a:xfrm>
            <a:off x="548640" y="4599432"/>
            <a:ext cx="804672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nearbase.net  |  kelly@nearbase.net  |  @nearbasepreschools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NearBase Preschool Finder — School Partner Pitch</dc:title>
  <dc:subject>PptxGenJS Presentation</dc:subject>
  <dc:creator>Kelly Brown</dc:creator>
  <cp:lastModifiedBy>Kelly Brown</cp:lastModifiedBy>
  <cp:revision>1</cp:revision>
  <dcterms:created xsi:type="dcterms:W3CDTF">2026-05-19T13:46:44Z</dcterms:created>
  <dcterms:modified xsi:type="dcterms:W3CDTF">2026-05-19T13:46:44Z</dcterms:modified>
</cp:coreProperties>
</file>